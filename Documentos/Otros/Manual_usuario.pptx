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8"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13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82A0B79F-F4DB-499E-926C-E037FFB2EC15}" type="slidenum">
              <a:rPr lang="es-MX" smtClean="0"/>
              <a:t>‹Nº›</a:t>
            </a:fld>
            <a:endParaRPr lang="es-MX"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796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82A0B79F-F4DB-499E-926C-E037FFB2EC15}" type="slidenum">
              <a:rPr lang="es-MX" smtClean="0"/>
              <a:t>‹Nº›</a:t>
            </a:fld>
            <a:endParaRPr lang="es-MX" dirty="0"/>
          </a:p>
        </p:txBody>
      </p:sp>
    </p:spTree>
    <p:extLst>
      <p:ext uri="{BB962C8B-B14F-4D97-AF65-F5344CB8AC3E}">
        <p14:creationId xmlns:p14="http://schemas.microsoft.com/office/powerpoint/2010/main" val="20068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82A0B79F-F4DB-499E-926C-E037FFB2EC15}" type="slidenum">
              <a:rPr lang="es-MX" smtClean="0"/>
              <a:t>‹Nº›</a:t>
            </a:fld>
            <a:endParaRPr lang="es-MX"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241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82A0B79F-F4DB-499E-926C-E037FFB2EC15}" type="slidenum">
              <a:rPr lang="es-MX" smtClean="0"/>
              <a:t>‹Nº›</a:t>
            </a:fld>
            <a:endParaRPr lang="es-MX" dirty="0"/>
          </a:p>
        </p:txBody>
      </p:sp>
    </p:spTree>
    <p:extLst>
      <p:ext uri="{BB962C8B-B14F-4D97-AF65-F5344CB8AC3E}">
        <p14:creationId xmlns:p14="http://schemas.microsoft.com/office/powerpoint/2010/main" val="1857686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822960" y="2582334"/>
            <a:ext cx="370332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4663440" y="2582334"/>
            <a:ext cx="370332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8" name="Footer Placeholder 7"/>
          <p:cNvSpPr>
            <a:spLocks noGrp="1"/>
          </p:cNvSpPr>
          <p:nvPr>
            <p:ph type="ftr" sz="quarter" idx="11"/>
          </p:nvPr>
        </p:nvSpPr>
        <p:spPr/>
        <p:txBody>
          <a:bodyPr/>
          <a:lstStyle/>
          <a:p>
            <a:endParaRPr lang="es-MX" dirty="0"/>
          </a:p>
        </p:txBody>
      </p:sp>
      <p:sp>
        <p:nvSpPr>
          <p:cNvPr id="9" name="Slide Number Placeholder 8"/>
          <p:cNvSpPr>
            <a:spLocks noGrp="1"/>
          </p:cNvSpPr>
          <p:nvPr>
            <p:ph type="sldNum" sz="quarter" idx="12"/>
          </p:nvPr>
        </p:nvSpPr>
        <p:spPr/>
        <p:txBody>
          <a:bodyPr/>
          <a:lstStyle/>
          <a:p>
            <a:fld id="{82A0B79F-F4DB-499E-926C-E037FFB2EC15}" type="slidenum">
              <a:rPr lang="es-MX" smtClean="0"/>
              <a:t>‹Nº›</a:t>
            </a:fld>
            <a:endParaRPr lang="es-MX" dirty="0"/>
          </a:p>
        </p:txBody>
      </p:sp>
    </p:spTree>
    <p:extLst>
      <p:ext uri="{BB962C8B-B14F-4D97-AF65-F5344CB8AC3E}">
        <p14:creationId xmlns:p14="http://schemas.microsoft.com/office/powerpoint/2010/main" val="3253713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5" name="Slide Number Placeholder 4"/>
          <p:cNvSpPr>
            <a:spLocks noGrp="1"/>
          </p:cNvSpPr>
          <p:nvPr>
            <p:ph type="sldNum" sz="quarter" idx="12"/>
          </p:nvPr>
        </p:nvSpPr>
        <p:spPr/>
        <p:txBody>
          <a:bodyPr/>
          <a:lstStyle/>
          <a:p>
            <a:fld id="{82A0B79F-F4DB-499E-926C-E037FFB2EC15}" type="slidenum">
              <a:rPr lang="es-MX" smtClean="0"/>
              <a:t>‹Nº›</a:t>
            </a:fld>
            <a:endParaRPr lang="es-MX" dirty="0"/>
          </a:p>
        </p:txBody>
      </p:sp>
    </p:spTree>
    <p:extLst>
      <p:ext uri="{BB962C8B-B14F-4D97-AF65-F5344CB8AC3E}">
        <p14:creationId xmlns:p14="http://schemas.microsoft.com/office/powerpoint/2010/main" val="2802923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MX" dirty="0"/>
          </a:p>
        </p:txBody>
      </p:sp>
      <p:sp>
        <p:nvSpPr>
          <p:cNvPr id="9" name="Slide Number Placeholder 8"/>
          <p:cNvSpPr>
            <a:spLocks noGrp="1"/>
          </p:cNvSpPr>
          <p:nvPr>
            <p:ph type="sldNum" sz="quarter" idx="12"/>
          </p:nvPr>
        </p:nvSpPr>
        <p:spPr/>
        <p:txBody>
          <a:bodyPr/>
          <a:lstStyle/>
          <a:p>
            <a:fld id="{82A0B79F-F4DB-499E-926C-E037FFB2EC15}" type="slidenum">
              <a:rPr lang="es-MX" smtClean="0"/>
              <a:t>‹Nº›</a:t>
            </a:fld>
            <a:endParaRPr lang="es-MX" dirty="0"/>
          </a:p>
        </p:txBody>
      </p:sp>
    </p:spTree>
    <p:extLst>
      <p:ext uri="{BB962C8B-B14F-4D97-AF65-F5344CB8AC3E}">
        <p14:creationId xmlns:p14="http://schemas.microsoft.com/office/powerpoint/2010/main" val="3725280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31AF37F-B710-4C17-A83A-8A206B1C6D4C}" type="datetimeFigureOut">
              <a:rPr lang="es-MX" smtClean="0"/>
              <a:t>30/10/2019</a:t>
            </a:fld>
            <a:endParaRPr lang="es-MX"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s-MX"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2A0B79F-F4DB-499E-926C-E037FFB2EC15}" type="slidenum">
              <a:rPr lang="es-MX" smtClean="0"/>
              <a:t>‹Nº›</a:t>
            </a:fld>
            <a:endParaRPr lang="es-MX" dirty="0"/>
          </a:p>
        </p:txBody>
      </p:sp>
    </p:spTree>
    <p:extLst>
      <p:ext uri="{BB962C8B-B14F-4D97-AF65-F5344CB8AC3E}">
        <p14:creationId xmlns:p14="http://schemas.microsoft.com/office/powerpoint/2010/main" val="2666337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smtClean="0"/>
              <a:t>Haga clic en el icono para agregar una imagen</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82A0B79F-F4DB-499E-926C-E037FFB2EC15}" type="slidenum">
              <a:rPr lang="es-MX" smtClean="0"/>
              <a:t>‹Nº›</a:t>
            </a:fld>
            <a:endParaRPr lang="es-MX" dirty="0"/>
          </a:p>
        </p:txBody>
      </p:sp>
    </p:spTree>
    <p:extLst>
      <p:ext uri="{BB962C8B-B14F-4D97-AF65-F5344CB8AC3E}">
        <p14:creationId xmlns:p14="http://schemas.microsoft.com/office/powerpoint/2010/main" val="3308482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82A0B79F-F4DB-499E-926C-E037FFB2EC15}" type="slidenum">
              <a:rPr lang="es-MX" smtClean="0"/>
              <a:t>‹Nº›</a:t>
            </a:fld>
            <a:endParaRPr lang="es-MX" dirty="0"/>
          </a:p>
        </p:txBody>
      </p:sp>
    </p:spTree>
    <p:extLst>
      <p:ext uri="{BB962C8B-B14F-4D97-AF65-F5344CB8AC3E}">
        <p14:creationId xmlns:p14="http://schemas.microsoft.com/office/powerpoint/2010/main" val="3406866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F31AF37F-B710-4C17-A83A-8A206B1C6D4C}" type="datetimeFigureOut">
              <a:rPr lang="es-MX" smtClean="0"/>
              <a:t>30/10/2019</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82A0B79F-F4DB-499E-926C-E037FFB2EC15}" type="slidenum">
              <a:rPr lang="es-MX" smtClean="0"/>
              <a:t>‹Nº›</a:t>
            </a:fld>
            <a:endParaRPr lang="es-MX" dirty="0"/>
          </a:p>
        </p:txBody>
      </p:sp>
    </p:spTree>
    <p:extLst>
      <p:ext uri="{BB962C8B-B14F-4D97-AF65-F5344CB8AC3E}">
        <p14:creationId xmlns:p14="http://schemas.microsoft.com/office/powerpoint/2010/main" val="2760262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F31AF37F-B710-4C17-A83A-8A206B1C6D4C}" type="datetimeFigureOut">
              <a:rPr lang="es-MX" smtClean="0"/>
              <a:t>30/10/2019</a:t>
            </a:fld>
            <a:endParaRPr lang="es-MX"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MX"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82A0B79F-F4DB-499E-926C-E037FFB2EC15}" type="slidenum">
              <a:rPr lang="es-MX" smtClean="0"/>
              <a:t>‹Nº›</a:t>
            </a:fld>
            <a:endParaRPr lang="es-MX"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0221833"/>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icsacid.itslerdo.edu.mx/" TargetMode="Externa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1169125" y="2312125"/>
            <a:ext cx="6688183" cy="2523768"/>
          </a:xfrm>
          <a:prstGeom prst="rect">
            <a:avLst/>
          </a:prstGeom>
          <a:noFill/>
        </p:spPr>
        <p:txBody>
          <a:bodyPr wrap="square" rtlCol="0">
            <a:spAutoFit/>
          </a:bodyPr>
          <a:lstStyle/>
          <a:p>
            <a:pPr algn="ctr"/>
            <a:endParaRPr lang="es-MX" sz="2800" b="1" dirty="0" smtClean="0">
              <a:ln w="22225">
                <a:solidFill>
                  <a:schemeClr val="accent2"/>
                </a:solidFill>
                <a:prstDash val="solid"/>
              </a:ln>
              <a:solidFill>
                <a:schemeClr val="accent2">
                  <a:lumMod val="40000"/>
                  <a:lumOff val="60000"/>
                </a:schemeClr>
              </a:solidFill>
              <a:latin typeface="Soberana Sans" panose="02000000000000000000" pitchFamily="50" charset="0"/>
            </a:endParaRPr>
          </a:p>
          <a:p>
            <a:pPr algn="ctr"/>
            <a:r>
              <a:rPr lang="es-MX" sz="2800" b="1" dirty="0" smtClean="0">
                <a:ln w="22225">
                  <a:solidFill>
                    <a:schemeClr val="accent2"/>
                  </a:solidFill>
                  <a:prstDash val="solid"/>
                </a:ln>
                <a:solidFill>
                  <a:schemeClr val="accent2">
                    <a:lumMod val="40000"/>
                    <a:lumOff val="60000"/>
                  </a:schemeClr>
                </a:solidFill>
                <a:latin typeface="Soberana Sans" panose="02000000000000000000" pitchFamily="50" charset="0"/>
              </a:rPr>
              <a:t>SISTEMA PARA EL CONTROL Y SEGUIMIENTO DE PUBLICACIÓN DE ARTÍCULOS EN LA REVISTA CID TEC LERDO</a:t>
            </a:r>
          </a:p>
          <a:p>
            <a:endParaRPr lang="es-MX" dirty="0"/>
          </a:p>
        </p:txBody>
      </p:sp>
      <p:sp>
        <p:nvSpPr>
          <p:cNvPr id="7" name="Rectángulo 6"/>
          <p:cNvSpPr/>
          <p:nvPr/>
        </p:nvSpPr>
        <p:spPr>
          <a:xfrm>
            <a:off x="1969225" y="326440"/>
            <a:ext cx="4878975" cy="1107996"/>
          </a:xfrm>
          <a:prstGeom prst="rect">
            <a:avLst/>
          </a:prstGeom>
        </p:spPr>
        <p:txBody>
          <a:bodyPr wrap="square">
            <a:spAutoFit/>
          </a:bodyPr>
          <a:lstStyle/>
          <a:p>
            <a:pPr algn="ctr"/>
            <a:r>
              <a:rPr lang="es-MX" sz="6600" b="1" u="sng" dirty="0" smtClean="0">
                <a:ln w="22225">
                  <a:solidFill>
                    <a:schemeClr val="accent2"/>
                  </a:solidFill>
                  <a:prstDash val="solid"/>
                </a:ln>
                <a:solidFill>
                  <a:schemeClr val="accent2">
                    <a:lumMod val="40000"/>
                    <a:lumOff val="60000"/>
                  </a:schemeClr>
                </a:solidFill>
                <a:latin typeface="Soberana Sans" panose="02000000000000000000" pitchFamily="50" charset="0"/>
              </a:rPr>
              <a:t>SICSA-CID</a:t>
            </a:r>
            <a:endParaRPr lang="es-MX" sz="6600" b="1" u="sng" dirty="0">
              <a:ln w="22225">
                <a:solidFill>
                  <a:schemeClr val="accent2"/>
                </a:solidFill>
                <a:prstDash val="solid"/>
              </a:ln>
              <a:solidFill>
                <a:schemeClr val="accent2">
                  <a:lumMod val="40000"/>
                  <a:lumOff val="60000"/>
                </a:schemeClr>
              </a:solidFill>
              <a:latin typeface="Soberana Sans" panose="02000000000000000000" pitchFamily="50" charset="0"/>
            </a:endParaRPr>
          </a:p>
        </p:txBody>
      </p:sp>
      <p:sp>
        <p:nvSpPr>
          <p:cNvPr id="9" name="Rectángulo 8"/>
          <p:cNvSpPr/>
          <p:nvPr/>
        </p:nvSpPr>
        <p:spPr>
          <a:xfrm>
            <a:off x="1541417" y="5483275"/>
            <a:ext cx="6766559" cy="954107"/>
          </a:xfrm>
          <a:prstGeom prst="rect">
            <a:avLst/>
          </a:prstGeom>
        </p:spPr>
        <p:txBody>
          <a:bodyPr wrap="square">
            <a:spAutoFit/>
          </a:bodyPr>
          <a:lstStyle/>
          <a:p>
            <a:pPr algn="ctr"/>
            <a:r>
              <a:rPr lang="es-MX" sz="2800" b="1" dirty="0">
                <a:ln w="22225">
                  <a:solidFill>
                    <a:schemeClr val="accent2"/>
                  </a:solidFill>
                  <a:prstDash val="solid"/>
                </a:ln>
                <a:solidFill>
                  <a:schemeClr val="accent2">
                    <a:lumMod val="40000"/>
                    <a:lumOff val="60000"/>
                  </a:schemeClr>
                </a:solidFill>
                <a:latin typeface="Soberana Sans" panose="02000000000000000000" pitchFamily="50" charset="0"/>
              </a:rPr>
              <a:t>R</a:t>
            </a:r>
            <a:r>
              <a:rPr lang="es-MX" sz="2800" b="1" dirty="0" smtClean="0">
                <a:ln w="22225">
                  <a:solidFill>
                    <a:schemeClr val="accent2"/>
                  </a:solidFill>
                  <a:prstDash val="solid"/>
                </a:ln>
                <a:solidFill>
                  <a:schemeClr val="accent2">
                    <a:lumMod val="40000"/>
                    <a:lumOff val="60000"/>
                  </a:schemeClr>
                </a:solidFill>
                <a:latin typeface="Soberana Sans" panose="02000000000000000000" pitchFamily="50" charset="0"/>
              </a:rPr>
              <a:t>evista </a:t>
            </a:r>
            <a:r>
              <a:rPr lang="es-MX" sz="2800" b="1" dirty="0">
                <a:ln w="22225">
                  <a:solidFill>
                    <a:schemeClr val="accent2"/>
                  </a:solidFill>
                  <a:prstDash val="solid"/>
                </a:ln>
                <a:solidFill>
                  <a:schemeClr val="accent2">
                    <a:lumMod val="40000"/>
                    <a:lumOff val="60000"/>
                  </a:schemeClr>
                </a:solidFill>
                <a:latin typeface="Soberana Sans" panose="02000000000000000000" pitchFamily="50" charset="0"/>
              </a:rPr>
              <a:t>CIENCIA, INGENIERÌA Y DESARROLLO TEC LERDO</a:t>
            </a:r>
          </a:p>
        </p:txBody>
      </p:sp>
      <p:sp>
        <p:nvSpPr>
          <p:cNvPr id="2" name="Rectángulo 1"/>
          <p:cNvSpPr/>
          <p:nvPr/>
        </p:nvSpPr>
        <p:spPr>
          <a:xfrm>
            <a:off x="3184968" y="1526769"/>
            <a:ext cx="2656496" cy="861774"/>
          </a:xfrm>
          <a:prstGeom prst="rect">
            <a:avLst/>
          </a:prstGeom>
          <a:noFill/>
        </p:spPr>
        <p:txBody>
          <a:bodyPr wrap="none" lIns="91440" tIns="45720" rIns="91440" bIns="45720">
            <a:spAutoFit/>
          </a:bodyPr>
          <a:lstStyle/>
          <a:p>
            <a:pPr algn="ctr"/>
            <a:r>
              <a:rPr lang="es-ES" sz="2500" dirty="0" smtClean="0">
                <a:ln w="0"/>
                <a:solidFill>
                  <a:schemeClr val="accent1"/>
                </a:solidFill>
                <a:effectLst>
                  <a:outerShdw blurRad="38100" dist="25400" dir="5400000" algn="ctr" rotWithShape="0">
                    <a:srgbClr val="6E747A">
                      <a:alpha val="43000"/>
                    </a:srgbClr>
                  </a:outerShdw>
                </a:effectLst>
              </a:rPr>
              <a:t>Manual de Usuario</a:t>
            </a:r>
          </a:p>
          <a:p>
            <a:pPr algn="ctr"/>
            <a:r>
              <a:rPr lang="es-ES" sz="2500" dirty="0" smtClean="0">
                <a:ln w="0"/>
                <a:solidFill>
                  <a:schemeClr val="accent1"/>
                </a:solidFill>
                <a:effectLst>
                  <a:outerShdw blurRad="38100" dist="25400" dir="5400000" algn="ctr" rotWithShape="0">
                    <a:srgbClr val="6E747A">
                      <a:alpha val="43000"/>
                    </a:srgbClr>
                  </a:outerShdw>
                </a:effectLst>
              </a:rPr>
              <a:t>Módulo Contacto</a:t>
            </a:r>
            <a:endParaRPr lang="es-ES" sz="2500" dirty="0">
              <a:ln w="0"/>
              <a:solidFill>
                <a:schemeClr val="accent1"/>
              </a:solidFill>
              <a:effectLst>
                <a:outerShdw blurRad="38100" dist="25400" dir="5400000" algn="ctr" rotWithShape="0">
                  <a:srgbClr val="6E747A">
                    <a:alpha val="43000"/>
                  </a:srgbClr>
                </a:outerShdw>
              </a:effectLst>
            </a:endParaRPr>
          </a:p>
        </p:txBody>
      </p:sp>
      <p:sp>
        <p:nvSpPr>
          <p:cNvPr id="3" name="Rectángulo 2"/>
          <p:cNvSpPr/>
          <p:nvPr/>
        </p:nvSpPr>
        <p:spPr>
          <a:xfrm>
            <a:off x="2699173" y="4559786"/>
            <a:ext cx="3706464" cy="369332"/>
          </a:xfrm>
          <a:prstGeom prst="rect">
            <a:avLst/>
          </a:prstGeom>
        </p:spPr>
        <p:txBody>
          <a:bodyPr wrap="none">
            <a:spAutoFit/>
          </a:bodyPr>
          <a:lstStyle/>
          <a:p>
            <a:r>
              <a:rPr lang="es-MX" dirty="0">
                <a:latin typeface="Soberana Sans" panose="02000000000000000000" pitchFamily="50" charset="0"/>
                <a:ea typeface="Calibri" panose="020F0502020204030204" pitchFamily="34" charset="0"/>
                <a:cs typeface="Times New Roman" panose="02020603050405020304" pitchFamily="18" charset="0"/>
                <a:hlinkClick r:id="rId2"/>
              </a:rPr>
              <a:t>http://sicsacid.itslerdo.edu.mx/ </a:t>
            </a:r>
            <a:endParaRPr lang="es-MX" dirty="0"/>
          </a:p>
        </p:txBody>
      </p:sp>
    </p:spTree>
    <p:extLst>
      <p:ext uri="{BB962C8B-B14F-4D97-AF65-F5344CB8AC3E}">
        <p14:creationId xmlns:p14="http://schemas.microsoft.com/office/powerpoint/2010/main" val="3447678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438400" y="784085"/>
            <a:ext cx="6244046" cy="1754326"/>
          </a:xfrm>
          <a:prstGeom prst="rect">
            <a:avLst/>
          </a:prstGeom>
        </p:spPr>
        <p:txBody>
          <a:bodyPr wrap="square">
            <a:spAutoFit/>
          </a:bodyPr>
          <a:lstStyle/>
          <a:p>
            <a:pPr algn="just">
              <a:lnSpc>
                <a:spcPct val="150000"/>
              </a:lnSpc>
              <a:spcAft>
                <a:spcPts val="0"/>
              </a:spcAft>
            </a:pPr>
            <a:r>
              <a:rPr lang="es-MX" dirty="0">
                <a:latin typeface="Soberana Sans" panose="02000000000000000000" pitchFamily="50" charset="0"/>
                <a:ea typeface="Calibri" panose="020F0502020204030204" pitchFamily="34" charset="0"/>
                <a:cs typeface="Segoe UI" panose="020B0502040204020203" pitchFamily="34" charset="0"/>
              </a:rPr>
              <a:t>E</a:t>
            </a:r>
            <a:r>
              <a:rPr lang="es-MX" dirty="0" smtClean="0">
                <a:latin typeface="Soberana Sans" panose="02000000000000000000" pitchFamily="50" charset="0"/>
                <a:ea typeface="Calibri" panose="020F0502020204030204" pitchFamily="34" charset="0"/>
                <a:cs typeface="Segoe UI" panose="020B0502040204020203" pitchFamily="34" charset="0"/>
              </a:rPr>
              <a:t>ste </a:t>
            </a:r>
            <a:r>
              <a:rPr lang="es-MX" dirty="0">
                <a:latin typeface="Soberana Sans" panose="02000000000000000000" pitchFamily="50" charset="0"/>
                <a:ea typeface="Calibri" panose="020F0502020204030204" pitchFamily="34" charset="0"/>
                <a:cs typeface="Segoe UI" panose="020B0502040204020203" pitchFamily="34" charset="0"/>
              </a:rPr>
              <a:t>tipo de </a:t>
            </a:r>
            <a:r>
              <a:rPr lang="es-MX" dirty="0" smtClean="0">
                <a:latin typeface="Soberana Sans" panose="02000000000000000000" pitchFamily="50" charset="0"/>
                <a:ea typeface="Calibri" panose="020F0502020204030204" pitchFamily="34" charset="0"/>
                <a:cs typeface="Segoe UI" panose="020B0502040204020203" pitchFamily="34" charset="0"/>
              </a:rPr>
              <a:t>usuarios, </a:t>
            </a:r>
            <a:r>
              <a:rPr lang="es-MX" dirty="0">
                <a:latin typeface="Soberana Sans" panose="02000000000000000000" pitchFamily="50" charset="0"/>
                <a:ea typeface="Calibri" panose="020F0502020204030204" pitchFamily="34" charset="0"/>
                <a:cs typeface="Segoe UI" panose="020B0502040204020203" pitchFamily="34" charset="0"/>
              </a:rPr>
              <a:t>son aquellos que registran resumen, suben extensos y generan las fichas de pago y no necesariamente son los autores de los artículos a postular a la revista. </a:t>
            </a:r>
            <a:endParaRPr lang="es-MX" dirty="0" smtClean="0">
              <a:latin typeface="Soberana Sans" panose="02000000000000000000" pitchFamily="50" charset="0"/>
              <a:ea typeface="Calibri" panose="020F0502020204030204" pitchFamily="34" charset="0"/>
              <a:cs typeface="Segoe UI" panose="020B0502040204020203" pitchFamily="34" charset="0"/>
            </a:endParaRPr>
          </a:p>
        </p:txBody>
      </p:sp>
      <p:pic>
        <p:nvPicPr>
          <p:cNvPr id="1026" name="Picture 2" descr="Resultado de imagen para usuar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43" y="3197769"/>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p:cNvPicPr>
            <a:picLocks noChangeAspect="1"/>
          </p:cNvPicPr>
          <p:nvPr/>
        </p:nvPicPr>
        <p:blipFill rotWithShape="1">
          <a:blip r:embed="rId3"/>
          <a:srcRect l="304" t="9552" r="3416" b="13662"/>
          <a:stretch/>
        </p:blipFill>
        <p:spPr>
          <a:xfrm>
            <a:off x="2867937" y="2538411"/>
            <a:ext cx="6171560" cy="3376294"/>
          </a:xfrm>
          <a:prstGeom prst="rect">
            <a:avLst/>
          </a:prstGeom>
        </p:spPr>
      </p:pic>
    </p:spTree>
    <p:extLst>
      <p:ext uri="{BB962C8B-B14F-4D97-AF65-F5344CB8AC3E}">
        <p14:creationId xmlns:p14="http://schemas.microsoft.com/office/powerpoint/2010/main" val="42327955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26571" y="248194"/>
            <a:ext cx="4405821" cy="523220"/>
          </a:xfrm>
          <a:prstGeom prst="rect">
            <a:avLst/>
          </a:prstGeom>
          <a:noFill/>
        </p:spPr>
        <p:txBody>
          <a:bodyPr wrap="none" rtlCol="0">
            <a:spAutoFit/>
          </a:bodyPr>
          <a:lstStyle/>
          <a:p>
            <a:r>
              <a:rPr lang="es-MX" sz="2800" b="1" dirty="0" smtClean="0">
                <a:ln w="6600">
                  <a:solidFill>
                    <a:schemeClr val="accent2"/>
                  </a:solidFill>
                  <a:prstDash val="solid"/>
                </a:ln>
                <a:solidFill>
                  <a:srgbClr val="FFFFFF"/>
                </a:solidFill>
                <a:effectLst>
                  <a:outerShdw dist="38100" dir="2700000" algn="tl" rotWithShape="0">
                    <a:schemeClr val="accent2"/>
                  </a:outerShdw>
                </a:effectLst>
              </a:rPr>
              <a:t>Página de Inicio de SICSACID</a:t>
            </a:r>
            <a:endParaRPr lang="es-MX" sz="28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8" name="CuadroTexto 7"/>
          <p:cNvSpPr txBox="1"/>
          <p:nvPr/>
        </p:nvSpPr>
        <p:spPr>
          <a:xfrm>
            <a:off x="6035040" y="1103810"/>
            <a:ext cx="2455817" cy="1477328"/>
          </a:xfrm>
          <a:prstGeom prst="rect">
            <a:avLst/>
          </a:prstGeom>
          <a:noFill/>
        </p:spPr>
        <p:txBody>
          <a:bodyPr wrap="square" rtlCol="0">
            <a:spAutoFit/>
          </a:bodyPr>
          <a:lstStyle/>
          <a:p>
            <a:pPr algn="just"/>
            <a:r>
              <a:rPr lang="es-MX" dirty="0" smtClean="0"/>
              <a:t>Para hacer uso del sistema, es necesario registrarse</a:t>
            </a:r>
            <a:r>
              <a:rPr lang="es-MX" dirty="0"/>
              <a:t> </a:t>
            </a:r>
            <a:r>
              <a:rPr lang="es-MX" dirty="0" smtClean="0"/>
              <a:t>por primera vez.</a:t>
            </a:r>
          </a:p>
          <a:p>
            <a:pPr algn="just"/>
            <a:endParaRPr lang="es-MX" dirty="0"/>
          </a:p>
        </p:txBody>
      </p:sp>
      <p:sp>
        <p:nvSpPr>
          <p:cNvPr id="12" name="CuadroTexto 11"/>
          <p:cNvSpPr txBox="1"/>
          <p:nvPr/>
        </p:nvSpPr>
        <p:spPr>
          <a:xfrm>
            <a:off x="5878286" y="3177539"/>
            <a:ext cx="2612571" cy="2308324"/>
          </a:xfrm>
          <a:prstGeom prst="rect">
            <a:avLst/>
          </a:prstGeom>
          <a:noFill/>
        </p:spPr>
        <p:txBody>
          <a:bodyPr wrap="square" rtlCol="0">
            <a:spAutoFit/>
          </a:bodyPr>
          <a:lstStyle/>
          <a:p>
            <a:pPr algn="just"/>
            <a:r>
              <a:rPr lang="es-MX" dirty="0" smtClean="0"/>
              <a:t>Una vez que se registre procederá a iniciar </a:t>
            </a:r>
            <a:r>
              <a:rPr lang="es-MX" dirty="0" smtClean="0"/>
              <a:t>sesión seleccionando su tipo de usuario.</a:t>
            </a:r>
            <a:endParaRPr lang="es-MX" dirty="0" smtClean="0"/>
          </a:p>
          <a:p>
            <a:pPr algn="just"/>
            <a:endParaRPr lang="es-MX" dirty="0"/>
          </a:p>
          <a:p>
            <a:pPr algn="just"/>
            <a:r>
              <a:rPr lang="es-MX" dirty="0" smtClean="0"/>
              <a:t>Si olvido la contraseña, deberá realizar el proceso de recuperación.</a:t>
            </a:r>
            <a:endParaRPr lang="es-MX" dirty="0"/>
          </a:p>
        </p:txBody>
      </p:sp>
      <p:pic>
        <p:nvPicPr>
          <p:cNvPr id="18" name="Imagen 17"/>
          <p:cNvPicPr>
            <a:picLocks noChangeAspect="1"/>
          </p:cNvPicPr>
          <p:nvPr/>
        </p:nvPicPr>
        <p:blipFill rotWithShape="1">
          <a:blip r:embed="rId2"/>
          <a:srcRect l="25001" t="10089" r="26306" b="7232"/>
          <a:stretch/>
        </p:blipFill>
        <p:spPr>
          <a:xfrm>
            <a:off x="111033" y="673297"/>
            <a:ext cx="5492933" cy="5580468"/>
          </a:xfrm>
          <a:prstGeom prst="rect">
            <a:avLst/>
          </a:prstGeom>
        </p:spPr>
      </p:pic>
      <p:cxnSp>
        <p:nvCxnSpPr>
          <p:cNvPr id="14" name="Conector recto de flecha 13"/>
          <p:cNvCxnSpPr/>
          <p:nvPr/>
        </p:nvCxnSpPr>
        <p:spPr>
          <a:xfrm flipH="1">
            <a:off x="3905794" y="3670663"/>
            <a:ext cx="1815738" cy="11495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Conector recto de flecha 15"/>
          <p:cNvCxnSpPr/>
          <p:nvPr/>
        </p:nvCxnSpPr>
        <p:spPr>
          <a:xfrm flipH="1">
            <a:off x="4441371" y="4572000"/>
            <a:ext cx="1593670" cy="112340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 name="Conector recto de flecha 9"/>
          <p:cNvCxnSpPr/>
          <p:nvPr/>
        </p:nvCxnSpPr>
        <p:spPr>
          <a:xfrm flipH="1">
            <a:off x="4441371" y="2259874"/>
            <a:ext cx="1606733" cy="322598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557488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326571" y="248194"/>
            <a:ext cx="1400512" cy="523220"/>
          </a:xfrm>
          <a:prstGeom prst="rect">
            <a:avLst/>
          </a:prstGeom>
          <a:noFill/>
        </p:spPr>
        <p:txBody>
          <a:bodyPr wrap="none" rtlCol="0">
            <a:spAutoFit/>
          </a:bodyPr>
          <a:lstStyle/>
          <a:p>
            <a:r>
              <a:rPr lang="es-MX" sz="2800" b="1" dirty="0" smtClean="0">
                <a:ln w="6600">
                  <a:solidFill>
                    <a:schemeClr val="accent2"/>
                  </a:solidFill>
                  <a:prstDash val="solid"/>
                </a:ln>
                <a:solidFill>
                  <a:srgbClr val="FFFFFF"/>
                </a:solidFill>
                <a:effectLst>
                  <a:outerShdw dist="38100" dir="2700000" algn="tl" rotWithShape="0">
                    <a:schemeClr val="accent2"/>
                  </a:outerShdw>
                </a:effectLst>
              </a:rPr>
              <a:t>Registro</a:t>
            </a:r>
            <a:endParaRPr lang="es-MX" sz="28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 name="CuadroTexto 3"/>
          <p:cNvSpPr txBox="1"/>
          <p:nvPr/>
        </p:nvSpPr>
        <p:spPr>
          <a:xfrm>
            <a:off x="326571" y="1658983"/>
            <a:ext cx="2299063" cy="4247317"/>
          </a:xfrm>
          <a:prstGeom prst="rect">
            <a:avLst/>
          </a:prstGeom>
          <a:noFill/>
        </p:spPr>
        <p:txBody>
          <a:bodyPr wrap="square" rtlCol="0">
            <a:spAutoFit/>
          </a:bodyPr>
          <a:lstStyle/>
          <a:p>
            <a:pPr algn="just"/>
            <a:r>
              <a:rPr lang="es-MX" dirty="0" smtClean="0"/>
              <a:t>Para poder registrarse solo es </a:t>
            </a:r>
            <a:r>
              <a:rPr lang="es-MX" dirty="0" smtClean="0"/>
              <a:t>necesario ingresar un nombre de usuario, </a:t>
            </a:r>
            <a:r>
              <a:rPr lang="es-MX" dirty="0" smtClean="0"/>
              <a:t>teclear un correo electrónico y la contraseña. Cabe mencionar que después de registrarse mostrará un mensaje de éxito e inmediatamente se iniciara sesión y tendrá que llenar por única ocasión todos los datos.</a:t>
            </a:r>
            <a:endParaRPr lang="es-MX" dirty="0"/>
          </a:p>
        </p:txBody>
      </p:sp>
      <p:pic>
        <p:nvPicPr>
          <p:cNvPr id="5" name="Imagen 4"/>
          <p:cNvPicPr>
            <a:picLocks noChangeAspect="1"/>
          </p:cNvPicPr>
          <p:nvPr/>
        </p:nvPicPr>
        <p:blipFill rotWithShape="1">
          <a:blip r:embed="rId2"/>
          <a:srcRect l="23797" t="10268" r="25704" b="6875"/>
          <a:stretch/>
        </p:blipFill>
        <p:spPr>
          <a:xfrm>
            <a:off x="3069771" y="0"/>
            <a:ext cx="6074229" cy="6061166"/>
          </a:xfrm>
          <a:prstGeom prst="rect">
            <a:avLst/>
          </a:prstGeom>
        </p:spPr>
      </p:pic>
      <p:cxnSp>
        <p:nvCxnSpPr>
          <p:cNvPr id="6" name="Conector recto de flecha 5"/>
          <p:cNvCxnSpPr>
            <a:stCxn id="4" idx="3"/>
          </p:cNvCxnSpPr>
          <p:nvPr/>
        </p:nvCxnSpPr>
        <p:spPr>
          <a:xfrm>
            <a:off x="2625634" y="3782642"/>
            <a:ext cx="2259875" cy="120736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094125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22067" y="305026"/>
            <a:ext cx="8765178" cy="1200329"/>
          </a:xfrm>
          <a:prstGeom prst="rect">
            <a:avLst/>
          </a:prstGeom>
        </p:spPr>
        <p:txBody>
          <a:bodyPr wrap="square">
            <a:spAutoFit/>
          </a:bodyPr>
          <a:lstStyle/>
          <a:p>
            <a:pPr algn="just"/>
            <a:r>
              <a:rPr lang="es-MX" dirty="0">
                <a:latin typeface="Soberana Sans" panose="02000000000000000000" pitchFamily="50" charset="0"/>
                <a:ea typeface="Calibri" panose="020F0502020204030204" pitchFamily="34" charset="0"/>
                <a:cs typeface="Segoe UI" panose="020B0502040204020203" pitchFamily="34" charset="0"/>
              </a:rPr>
              <a:t>Se recuerda que este usuario es el único tipo de usuario que debe hacer su registro al sistema, por lo que, al momento de ingresar por primera vez, deberá también editar su perfil para completar su registro</a:t>
            </a:r>
            <a:r>
              <a:rPr lang="es-MX" dirty="0" smtClean="0">
                <a:latin typeface="Soberana Sans" panose="02000000000000000000" pitchFamily="50" charset="0"/>
                <a:ea typeface="Calibri" panose="020F0502020204030204" pitchFamily="34" charset="0"/>
                <a:cs typeface="Segoe UI" panose="020B0502040204020203" pitchFamily="34" charset="0"/>
              </a:rPr>
              <a:t>. Todos los campos son obligatorios. </a:t>
            </a:r>
            <a:endParaRPr lang="es-MX" dirty="0"/>
          </a:p>
        </p:txBody>
      </p:sp>
      <p:sp>
        <p:nvSpPr>
          <p:cNvPr id="4" name="CuadroTexto 3"/>
          <p:cNvSpPr txBox="1"/>
          <p:nvPr/>
        </p:nvSpPr>
        <p:spPr>
          <a:xfrm>
            <a:off x="200093" y="5342709"/>
            <a:ext cx="5394960" cy="923330"/>
          </a:xfrm>
          <a:prstGeom prst="rect">
            <a:avLst/>
          </a:prstGeom>
          <a:noFill/>
        </p:spPr>
        <p:txBody>
          <a:bodyPr wrap="square" rtlCol="0">
            <a:spAutoFit/>
          </a:bodyPr>
          <a:lstStyle/>
          <a:p>
            <a:pPr algn="just"/>
            <a:r>
              <a:rPr lang="es-MX" dirty="0" smtClean="0"/>
              <a:t>Una vez terminado de completar toda la información se da clic en Editar </a:t>
            </a:r>
            <a:r>
              <a:rPr lang="es-MX" dirty="0" smtClean="0"/>
              <a:t>Perfil y se mostrara su primer nombre y su primer apellido.</a:t>
            </a:r>
            <a:endParaRPr lang="es-MX" dirty="0"/>
          </a:p>
        </p:txBody>
      </p:sp>
      <p:pic>
        <p:nvPicPr>
          <p:cNvPr id="5" name="Imagen 4"/>
          <p:cNvPicPr>
            <a:picLocks noChangeAspect="1"/>
          </p:cNvPicPr>
          <p:nvPr/>
        </p:nvPicPr>
        <p:blipFill rotWithShape="1">
          <a:blip r:embed="rId2"/>
          <a:srcRect l="504" t="9374" r="3516" b="14197"/>
          <a:stretch/>
        </p:blipFill>
        <p:spPr>
          <a:xfrm>
            <a:off x="125866" y="1254532"/>
            <a:ext cx="8957579" cy="4010297"/>
          </a:xfrm>
          <a:prstGeom prst="rect">
            <a:avLst/>
          </a:prstGeom>
        </p:spPr>
      </p:pic>
      <p:cxnSp>
        <p:nvCxnSpPr>
          <p:cNvPr id="6" name="Conector recto de flecha 5"/>
          <p:cNvCxnSpPr/>
          <p:nvPr/>
        </p:nvCxnSpPr>
        <p:spPr>
          <a:xfrm flipV="1">
            <a:off x="5669280" y="5003075"/>
            <a:ext cx="2246811" cy="67926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 name="Conector recto de flecha 9"/>
          <p:cNvCxnSpPr/>
          <p:nvPr/>
        </p:nvCxnSpPr>
        <p:spPr>
          <a:xfrm flipH="1" flipV="1">
            <a:off x="1084217" y="2573383"/>
            <a:ext cx="888274" cy="276932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472571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82361"/>
            <a:ext cx="6126480" cy="1477328"/>
          </a:xfrm>
          <a:prstGeom prst="rect">
            <a:avLst/>
          </a:prstGeom>
        </p:spPr>
        <p:txBody>
          <a:bodyPr wrap="square">
            <a:spAutoFit/>
          </a:bodyPr>
          <a:lstStyle/>
          <a:p>
            <a:pPr algn="just"/>
            <a:r>
              <a:rPr lang="es-MX" dirty="0">
                <a:latin typeface="Soberana Sans" panose="02000000000000000000" pitchFamily="50" charset="0"/>
                <a:ea typeface="Calibri" panose="020F0502020204030204" pitchFamily="34" charset="0"/>
                <a:cs typeface="Segoe UI" panose="020B0502040204020203" pitchFamily="34" charset="0"/>
              </a:rPr>
              <a:t>Uno de los principales métodos que se lleva a cabo en este módulo es el crear el resumen, este es el primer paso que todo usuario (tipo contacto) debe de realizar para iniciar con el proceso de someter un artículo a revisión para ser publicado en la revista CID Tec Lerdo. </a:t>
            </a:r>
            <a:endParaRPr lang="es-MX" dirty="0" smtClean="0">
              <a:latin typeface="Soberana Sans" panose="02000000000000000000" pitchFamily="50" charset="0"/>
              <a:ea typeface="Calibri" panose="020F0502020204030204" pitchFamily="34" charset="0"/>
              <a:cs typeface="Segoe UI" panose="020B0502040204020203" pitchFamily="34" charset="0"/>
            </a:endParaRPr>
          </a:p>
          <a:p>
            <a:pPr algn="just"/>
            <a:endParaRPr lang="es-MX" dirty="0">
              <a:latin typeface="Soberana Sans" panose="02000000000000000000" pitchFamily="50" charset="0"/>
              <a:cs typeface="Segoe UI" panose="020B0502040204020203" pitchFamily="34" charset="0"/>
            </a:endParaRPr>
          </a:p>
        </p:txBody>
      </p:sp>
      <p:sp>
        <p:nvSpPr>
          <p:cNvPr id="4" name="CuadroTexto 3"/>
          <p:cNvSpPr txBox="1"/>
          <p:nvPr/>
        </p:nvSpPr>
        <p:spPr>
          <a:xfrm>
            <a:off x="7282003" y="817746"/>
            <a:ext cx="1793376" cy="369332"/>
          </a:xfrm>
          <a:prstGeom prst="rect">
            <a:avLst/>
          </a:prstGeom>
          <a:noFill/>
        </p:spPr>
        <p:txBody>
          <a:bodyPr wrap="none" rtlCol="0">
            <a:spAutoFit/>
          </a:bodyPr>
          <a:lstStyle/>
          <a:p>
            <a:r>
              <a:rPr lang="es-MX" dirty="0" smtClean="0"/>
              <a:t>Agregar resumen</a:t>
            </a:r>
            <a:endParaRPr lang="es-MX" dirty="0"/>
          </a:p>
        </p:txBody>
      </p:sp>
      <p:sp>
        <p:nvSpPr>
          <p:cNvPr id="7" name="CuadroTexto 6"/>
          <p:cNvSpPr txBox="1"/>
          <p:nvPr/>
        </p:nvSpPr>
        <p:spPr>
          <a:xfrm>
            <a:off x="1" y="5259937"/>
            <a:ext cx="2599508" cy="1200329"/>
          </a:xfrm>
          <a:prstGeom prst="rect">
            <a:avLst/>
          </a:prstGeom>
          <a:noFill/>
        </p:spPr>
        <p:txBody>
          <a:bodyPr wrap="square" rtlCol="0">
            <a:spAutoFit/>
          </a:bodyPr>
          <a:lstStyle/>
          <a:p>
            <a:pPr algn="just"/>
            <a:r>
              <a:rPr lang="es-MX" dirty="0" smtClean="0"/>
              <a:t>Se muestra los resúmenes que fueron sometidos a revisión y su status</a:t>
            </a:r>
            <a:endParaRPr lang="es-MX" dirty="0"/>
          </a:p>
        </p:txBody>
      </p:sp>
      <p:pic>
        <p:nvPicPr>
          <p:cNvPr id="5" name="Imagen 4"/>
          <p:cNvPicPr>
            <a:picLocks noChangeAspect="1"/>
          </p:cNvPicPr>
          <p:nvPr/>
        </p:nvPicPr>
        <p:blipFill rotWithShape="1">
          <a:blip r:embed="rId2"/>
          <a:srcRect l="1105" t="9553" r="2010" b="18125"/>
          <a:stretch/>
        </p:blipFill>
        <p:spPr>
          <a:xfrm>
            <a:off x="0" y="1306736"/>
            <a:ext cx="9075379" cy="4035973"/>
          </a:xfrm>
          <a:prstGeom prst="rect">
            <a:avLst/>
          </a:prstGeom>
        </p:spPr>
      </p:pic>
      <p:cxnSp>
        <p:nvCxnSpPr>
          <p:cNvPr id="6" name="Conector recto de flecha 5"/>
          <p:cNvCxnSpPr/>
          <p:nvPr/>
        </p:nvCxnSpPr>
        <p:spPr>
          <a:xfrm flipH="1">
            <a:off x="3958046" y="1187078"/>
            <a:ext cx="3631475" cy="139329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 name="Conector recto de flecha 8"/>
          <p:cNvCxnSpPr/>
          <p:nvPr/>
        </p:nvCxnSpPr>
        <p:spPr>
          <a:xfrm>
            <a:off x="2599508" y="6431864"/>
            <a:ext cx="1123406" cy="568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0" name="Conector recto de flecha 19"/>
          <p:cNvCxnSpPr/>
          <p:nvPr/>
        </p:nvCxnSpPr>
        <p:spPr>
          <a:xfrm flipV="1">
            <a:off x="2834640" y="4859383"/>
            <a:ext cx="1005840" cy="100071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647891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extLst>
              <a:ext uri="{28A0092B-C50C-407E-A947-70E740481C1C}">
                <a14:useLocalDpi xmlns:a14="http://schemas.microsoft.com/office/drawing/2010/main" val="0"/>
              </a:ext>
            </a:extLst>
          </a:blip>
          <a:srcRect l="-619" t="13150" r="619"/>
          <a:stretch/>
        </p:blipFill>
        <p:spPr>
          <a:xfrm>
            <a:off x="221797" y="1776549"/>
            <a:ext cx="8439150" cy="4202430"/>
          </a:xfrm>
          <a:prstGeom prst="rect">
            <a:avLst/>
          </a:prstGeom>
        </p:spPr>
      </p:pic>
      <p:sp>
        <p:nvSpPr>
          <p:cNvPr id="3" name="CuadroTexto 2"/>
          <p:cNvSpPr txBox="1"/>
          <p:nvPr/>
        </p:nvSpPr>
        <p:spPr>
          <a:xfrm>
            <a:off x="574766" y="483326"/>
            <a:ext cx="7667897" cy="1200329"/>
          </a:xfrm>
          <a:prstGeom prst="rect">
            <a:avLst/>
          </a:prstGeom>
          <a:noFill/>
        </p:spPr>
        <p:txBody>
          <a:bodyPr wrap="square" rtlCol="0">
            <a:spAutoFit/>
          </a:bodyPr>
          <a:lstStyle/>
          <a:p>
            <a:pPr algn="just"/>
            <a:r>
              <a:rPr lang="es-MX" dirty="0" smtClean="0"/>
              <a:t>Para poder crear un nuevo resumen es necesario contar con toda la información, el sistema no permite crear el resumen por etapas.</a:t>
            </a:r>
          </a:p>
          <a:p>
            <a:pPr algn="just"/>
            <a:endParaRPr lang="es-MX" dirty="0"/>
          </a:p>
          <a:p>
            <a:pPr algn="just"/>
            <a:r>
              <a:rPr lang="es-MX" dirty="0" smtClean="0"/>
              <a:t>La primer imagen muestra los datos principales del resumen que debe de llenar.</a:t>
            </a:r>
            <a:endParaRPr lang="es-MX" dirty="0"/>
          </a:p>
        </p:txBody>
      </p:sp>
    </p:spTree>
    <p:extLst>
      <p:ext uri="{BB962C8B-B14F-4D97-AF65-F5344CB8AC3E}">
        <p14:creationId xmlns:p14="http://schemas.microsoft.com/office/powerpoint/2010/main" val="3915982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54844"/>
            <a:ext cx="6531130" cy="4492355"/>
          </a:xfrm>
          <a:prstGeom prst="rect">
            <a:avLst/>
          </a:prstGeom>
        </p:spPr>
      </p:pic>
      <p:sp>
        <p:nvSpPr>
          <p:cNvPr id="3" name="CuadroTexto 2"/>
          <p:cNvSpPr txBox="1"/>
          <p:nvPr/>
        </p:nvSpPr>
        <p:spPr>
          <a:xfrm>
            <a:off x="6809978" y="589860"/>
            <a:ext cx="2065082" cy="3416320"/>
          </a:xfrm>
          <a:prstGeom prst="rect">
            <a:avLst/>
          </a:prstGeom>
          <a:noFill/>
        </p:spPr>
        <p:txBody>
          <a:bodyPr wrap="square" rtlCol="0">
            <a:spAutoFit/>
          </a:bodyPr>
          <a:lstStyle/>
          <a:p>
            <a:pPr algn="just"/>
            <a:r>
              <a:rPr lang="es-MX" dirty="0" smtClean="0"/>
              <a:t>El sistema pedirá obligatorio el registro como mínimo del autor principal. Es necesario llenar la información del autor, cabe mencionar que el ORCID y CVU , NO son campos obligatorios.</a:t>
            </a:r>
            <a:endParaRPr lang="es-MX" dirty="0"/>
          </a:p>
        </p:txBody>
      </p:sp>
      <p:sp>
        <p:nvSpPr>
          <p:cNvPr id="4" name="Abrir llave 3"/>
          <p:cNvSpPr/>
          <p:nvPr/>
        </p:nvSpPr>
        <p:spPr>
          <a:xfrm>
            <a:off x="6531130" y="484089"/>
            <a:ext cx="165505" cy="3993777"/>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s-MX" dirty="0"/>
          </a:p>
        </p:txBody>
      </p:sp>
      <p:sp>
        <p:nvSpPr>
          <p:cNvPr id="5" name="CuadroTexto 4"/>
          <p:cNvSpPr txBox="1"/>
          <p:nvPr/>
        </p:nvSpPr>
        <p:spPr>
          <a:xfrm>
            <a:off x="504072" y="5095399"/>
            <a:ext cx="7651377" cy="1200329"/>
          </a:xfrm>
          <a:prstGeom prst="rect">
            <a:avLst/>
          </a:prstGeom>
          <a:noFill/>
        </p:spPr>
        <p:txBody>
          <a:bodyPr wrap="square" rtlCol="0">
            <a:spAutoFit/>
          </a:bodyPr>
          <a:lstStyle/>
          <a:p>
            <a:pPr algn="just"/>
            <a:r>
              <a:rPr lang="es-MX" dirty="0" smtClean="0"/>
              <a:t>Si el artículo tiene mas autores, estos deberán ser añadidos como coautores. Usted podrá agregar como máximo 4 coautores. El sistema desplegará automáticamente los datos a llenar dependiendo de los números de coautores seleccionados.</a:t>
            </a:r>
            <a:endParaRPr lang="es-MX" dirty="0"/>
          </a:p>
        </p:txBody>
      </p:sp>
      <p:cxnSp>
        <p:nvCxnSpPr>
          <p:cNvPr id="7" name="Conector recto de flecha 6"/>
          <p:cNvCxnSpPr/>
          <p:nvPr/>
        </p:nvCxnSpPr>
        <p:spPr>
          <a:xfrm flipH="1" flipV="1">
            <a:off x="2782389" y="3017520"/>
            <a:ext cx="1149531" cy="195892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049094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69" y="966516"/>
            <a:ext cx="6657023" cy="4755016"/>
          </a:xfrm>
          <a:prstGeom prst="rect">
            <a:avLst/>
          </a:prstGeom>
        </p:spPr>
      </p:pic>
      <p:sp>
        <p:nvSpPr>
          <p:cNvPr id="3" name="CuadroTexto 2"/>
          <p:cNvSpPr txBox="1"/>
          <p:nvPr/>
        </p:nvSpPr>
        <p:spPr>
          <a:xfrm>
            <a:off x="7014754" y="1358865"/>
            <a:ext cx="1724297" cy="3970318"/>
          </a:xfrm>
          <a:prstGeom prst="rect">
            <a:avLst/>
          </a:prstGeom>
          <a:noFill/>
        </p:spPr>
        <p:txBody>
          <a:bodyPr wrap="square" rtlCol="0">
            <a:spAutoFit/>
          </a:bodyPr>
          <a:lstStyle/>
          <a:p>
            <a:pPr algn="just"/>
            <a:r>
              <a:rPr lang="es-MX" dirty="0" smtClean="0"/>
              <a:t>Una vez llenado todos los datos del resumen, del autor principal y de los coautores en caso de existir, entonces se procede a guardar la información y esperar el dictamen de su resumen.</a:t>
            </a:r>
            <a:endParaRPr lang="es-MX" dirty="0"/>
          </a:p>
        </p:txBody>
      </p:sp>
      <p:cxnSp>
        <p:nvCxnSpPr>
          <p:cNvPr id="5" name="Conector recto de flecha 4"/>
          <p:cNvCxnSpPr>
            <a:stCxn id="3" idx="1"/>
          </p:cNvCxnSpPr>
          <p:nvPr/>
        </p:nvCxnSpPr>
        <p:spPr>
          <a:xfrm flipH="1">
            <a:off x="6335486" y="3344024"/>
            <a:ext cx="679268" cy="198515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540740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54378"/>
            <a:ext cx="9144000" cy="1338828"/>
          </a:xfrm>
          <a:prstGeom prst="rect">
            <a:avLst/>
          </a:prstGeom>
        </p:spPr>
        <p:txBody>
          <a:bodyPr wrap="square">
            <a:spAutoFit/>
          </a:bodyPr>
          <a:lstStyle/>
          <a:p>
            <a:pPr algn="just">
              <a:lnSpc>
                <a:spcPct val="150000"/>
              </a:lnSpc>
              <a:spcAft>
                <a:spcPts val="800"/>
              </a:spcAft>
            </a:pPr>
            <a:r>
              <a:rPr lang="es-MX" dirty="0"/>
              <a:t>Una vez que registró el resumen, este será evaluado por el comité editorial, el cual generará el dictamen. El contacto podrá visualizar el dictamen del resumen, en dado caso que fuera aceptado procederá a subir el extenso para su evaluación por parte de los revisores.  </a:t>
            </a:r>
          </a:p>
        </p:txBody>
      </p:sp>
      <p:sp>
        <p:nvSpPr>
          <p:cNvPr id="4" name="CuadroTexto 3"/>
          <p:cNvSpPr txBox="1"/>
          <p:nvPr/>
        </p:nvSpPr>
        <p:spPr>
          <a:xfrm>
            <a:off x="5577842" y="5484867"/>
            <a:ext cx="1867988" cy="646331"/>
          </a:xfrm>
          <a:prstGeom prst="rect">
            <a:avLst/>
          </a:prstGeom>
          <a:noFill/>
        </p:spPr>
        <p:txBody>
          <a:bodyPr wrap="square" rtlCol="0">
            <a:spAutoFit/>
          </a:bodyPr>
          <a:lstStyle/>
          <a:p>
            <a:pPr algn="ctr"/>
            <a:r>
              <a:rPr lang="es-MX" dirty="0" smtClean="0"/>
              <a:t>Visualiza el resumen creado</a:t>
            </a:r>
            <a:endParaRPr lang="es-MX" dirty="0"/>
          </a:p>
        </p:txBody>
      </p:sp>
      <p:sp>
        <p:nvSpPr>
          <p:cNvPr id="5" name="CuadroTexto 4"/>
          <p:cNvSpPr txBox="1"/>
          <p:nvPr/>
        </p:nvSpPr>
        <p:spPr>
          <a:xfrm>
            <a:off x="7680960" y="5321007"/>
            <a:ext cx="1254035" cy="923330"/>
          </a:xfrm>
          <a:prstGeom prst="rect">
            <a:avLst/>
          </a:prstGeom>
          <a:noFill/>
        </p:spPr>
        <p:txBody>
          <a:bodyPr wrap="square" rtlCol="0">
            <a:spAutoFit/>
          </a:bodyPr>
          <a:lstStyle/>
          <a:p>
            <a:pPr algn="ctr"/>
            <a:r>
              <a:rPr lang="es-MX" dirty="0" smtClean="0"/>
              <a:t>Descarga el dictamen generado</a:t>
            </a:r>
            <a:endParaRPr lang="es-MX" dirty="0"/>
          </a:p>
        </p:txBody>
      </p:sp>
      <p:sp>
        <p:nvSpPr>
          <p:cNvPr id="10" name="CuadroTexto 9"/>
          <p:cNvSpPr txBox="1"/>
          <p:nvPr/>
        </p:nvSpPr>
        <p:spPr>
          <a:xfrm>
            <a:off x="353859" y="4948356"/>
            <a:ext cx="4988853" cy="1200329"/>
          </a:xfrm>
          <a:prstGeom prst="rect">
            <a:avLst/>
          </a:prstGeom>
          <a:noFill/>
        </p:spPr>
        <p:txBody>
          <a:bodyPr wrap="square" rtlCol="0">
            <a:spAutoFit/>
          </a:bodyPr>
          <a:lstStyle/>
          <a:p>
            <a:pPr algn="just"/>
            <a:r>
              <a:rPr lang="es-MX" dirty="0" smtClean="0"/>
              <a:t>Si el comité aun no revisa el resume el status dirá en revisión, si muestra la palabra dictamen, entonces su resumen ya fue evaluado y podrá descargar el dictamen.</a:t>
            </a:r>
            <a:endParaRPr lang="es-MX" dirty="0"/>
          </a:p>
        </p:txBody>
      </p:sp>
      <p:pic>
        <p:nvPicPr>
          <p:cNvPr id="6" name="Imagen 5"/>
          <p:cNvPicPr>
            <a:picLocks noChangeAspect="1"/>
          </p:cNvPicPr>
          <p:nvPr/>
        </p:nvPicPr>
        <p:blipFill rotWithShape="1">
          <a:blip r:embed="rId2"/>
          <a:srcRect l="1207" t="9375" r="1006" b="28840"/>
          <a:stretch/>
        </p:blipFill>
        <p:spPr>
          <a:xfrm>
            <a:off x="0" y="1090154"/>
            <a:ext cx="9194212" cy="3553097"/>
          </a:xfrm>
          <a:prstGeom prst="rect">
            <a:avLst/>
          </a:prstGeom>
        </p:spPr>
      </p:pic>
      <p:cxnSp>
        <p:nvCxnSpPr>
          <p:cNvPr id="13" name="Conector recto de flecha 12"/>
          <p:cNvCxnSpPr/>
          <p:nvPr/>
        </p:nvCxnSpPr>
        <p:spPr>
          <a:xfrm flipV="1">
            <a:off x="5447211" y="3931920"/>
            <a:ext cx="1214846" cy="138908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 name="Conector recto de flecha 8"/>
          <p:cNvCxnSpPr>
            <a:stCxn id="4" idx="0"/>
          </p:cNvCxnSpPr>
          <p:nvPr/>
        </p:nvCxnSpPr>
        <p:spPr>
          <a:xfrm flipV="1">
            <a:off x="6511836" y="4245429"/>
            <a:ext cx="1169124" cy="123943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 name="Conector recto de flecha 6"/>
          <p:cNvCxnSpPr>
            <a:stCxn id="5" idx="0"/>
          </p:cNvCxnSpPr>
          <p:nvPr/>
        </p:nvCxnSpPr>
        <p:spPr>
          <a:xfrm flipV="1">
            <a:off x="8307978" y="4245429"/>
            <a:ext cx="195942" cy="107557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053640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0" y="0"/>
            <a:ext cx="9144000" cy="646331"/>
          </a:xfrm>
          <a:prstGeom prst="rect">
            <a:avLst/>
          </a:prstGeom>
          <a:noFill/>
        </p:spPr>
        <p:txBody>
          <a:bodyPr wrap="square" rtlCol="0">
            <a:spAutoFit/>
          </a:bodyPr>
          <a:lstStyle/>
          <a:p>
            <a:r>
              <a:rPr lang="es-MX" dirty="0" smtClean="0"/>
              <a:t>Si el dictamen del resumen indica que fue ACEPTADO, deberá seleccionar la pestaña de artículo en el menú.</a:t>
            </a:r>
            <a:endParaRPr lang="es-MX" dirty="0"/>
          </a:p>
        </p:txBody>
      </p:sp>
      <p:sp>
        <p:nvSpPr>
          <p:cNvPr id="6" name="CuadroTexto 5"/>
          <p:cNvSpPr txBox="1"/>
          <p:nvPr/>
        </p:nvSpPr>
        <p:spPr>
          <a:xfrm>
            <a:off x="927463" y="5109624"/>
            <a:ext cx="3520440" cy="1200329"/>
          </a:xfrm>
          <a:prstGeom prst="rect">
            <a:avLst/>
          </a:prstGeom>
          <a:noFill/>
        </p:spPr>
        <p:txBody>
          <a:bodyPr wrap="square" rtlCol="0">
            <a:spAutoFit/>
          </a:bodyPr>
          <a:lstStyle/>
          <a:p>
            <a:pPr algn="just"/>
            <a:r>
              <a:rPr lang="es-MX" dirty="0" smtClean="0"/>
              <a:t>Se desplegará la lista de los </a:t>
            </a:r>
            <a:r>
              <a:rPr lang="es-MX" dirty="0" err="1" smtClean="0"/>
              <a:t>resumenes</a:t>
            </a:r>
            <a:r>
              <a:rPr lang="es-MX" dirty="0" smtClean="0"/>
              <a:t> aceptados para poder subir su extenso.</a:t>
            </a:r>
          </a:p>
          <a:p>
            <a:endParaRPr lang="es-MX" dirty="0"/>
          </a:p>
        </p:txBody>
      </p:sp>
      <p:sp>
        <p:nvSpPr>
          <p:cNvPr id="9" name="CuadroTexto 8"/>
          <p:cNvSpPr txBox="1"/>
          <p:nvPr/>
        </p:nvSpPr>
        <p:spPr>
          <a:xfrm>
            <a:off x="4781006" y="5109624"/>
            <a:ext cx="1998617" cy="923330"/>
          </a:xfrm>
          <a:prstGeom prst="rect">
            <a:avLst/>
          </a:prstGeom>
          <a:noFill/>
        </p:spPr>
        <p:txBody>
          <a:bodyPr wrap="square" rtlCol="0">
            <a:spAutoFit/>
          </a:bodyPr>
          <a:lstStyle/>
          <a:p>
            <a:pPr algn="just"/>
            <a:r>
              <a:rPr lang="es-MX" dirty="0" smtClean="0"/>
              <a:t>Indica si el extenso ya fue recibido o cargado.</a:t>
            </a:r>
            <a:endParaRPr lang="es-MX" dirty="0"/>
          </a:p>
        </p:txBody>
      </p:sp>
      <p:sp>
        <p:nvSpPr>
          <p:cNvPr id="10" name="CuadroTexto 9"/>
          <p:cNvSpPr txBox="1"/>
          <p:nvPr/>
        </p:nvSpPr>
        <p:spPr>
          <a:xfrm>
            <a:off x="7112725" y="4952868"/>
            <a:ext cx="1887583" cy="1477328"/>
          </a:xfrm>
          <a:prstGeom prst="rect">
            <a:avLst/>
          </a:prstGeom>
          <a:noFill/>
        </p:spPr>
        <p:txBody>
          <a:bodyPr wrap="square" rtlCol="0">
            <a:spAutoFit/>
          </a:bodyPr>
          <a:lstStyle/>
          <a:p>
            <a:pPr algn="just"/>
            <a:r>
              <a:rPr lang="es-MX" dirty="0" smtClean="0"/>
              <a:t>Permite visualizar  el resumen en donde también podrá subir su extenso.</a:t>
            </a:r>
            <a:endParaRPr lang="es-MX" dirty="0"/>
          </a:p>
        </p:txBody>
      </p:sp>
      <p:pic>
        <p:nvPicPr>
          <p:cNvPr id="11" name="Imagen 10"/>
          <p:cNvPicPr>
            <a:picLocks noChangeAspect="1"/>
          </p:cNvPicPr>
          <p:nvPr/>
        </p:nvPicPr>
        <p:blipFill rotWithShape="1">
          <a:blip r:embed="rId2"/>
          <a:srcRect l="1207" t="10267" r="1105" b="29197"/>
          <a:stretch/>
        </p:blipFill>
        <p:spPr>
          <a:xfrm>
            <a:off x="-52252" y="857385"/>
            <a:ext cx="9000309" cy="3448595"/>
          </a:xfrm>
          <a:prstGeom prst="rect">
            <a:avLst/>
          </a:prstGeom>
        </p:spPr>
      </p:pic>
      <p:cxnSp>
        <p:nvCxnSpPr>
          <p:cNvPr id="5" name="Conector recto de flecha 4"/>
          <p:cNvCxnSpPr/>
          <p:nvPr/>
        </p:nvCxnSpPr>
        <p:spPr>
          <a:xfrm flipH="1">
            <a:off x="535578" y="431074"/>
            <a:ext cx="1254033" cy="203780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8" name="Conector recto de flecha 7"/>
          <p:cNvCxnSpPr/>
          <p:nvPr/>
        </p:nvCxnSpPr>
        <p:spPr>
          <a:xfrm flipV="1">
            <a:off x="2687683" y="3461657"/>
            <a:ext cx="2735036" cy="143691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2" name="Conector recto de flecha 11"/>
          <p:cNvCxnSpPr/>
          <p:nvPr/>
        </p:nvCxnSpPr>
        <p:spPr>
          <a:xfrm flipV="1">
            <a:off x="5943600" y="3722914"/>
            <a:ext cx="898071" cy="126709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Conector recto de flecha 13"/>
          <p:cNvCxnSpPr/>
          <p:nvPr/>
        </p:nvCxnSpPr>
        <p:spPr>
          <a:xfrm flipV="1">
            <a:off x="7837715" y="3722914"/>
            <a:ext cx="52251" cy="138671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679241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0" y="4262708"/>
            <a:ext cx="3161211" cy="2031325"/>
          </a:xfrm>
          <a:prstGeom prst="rect">
            <a:avLst/>
          </a:prstGeom>
          <a:noFill/>
        </p:spPr>
        <p:txBody>
          <a:bodyPr wrap="square" rtlCol="0">
            <a:spAutoFit/>
          </a:bodyPr>
          <a:lstStyle/>
          <a:p>
            <a:pPr algn="just"/>
            <a:r>
              <a:rPr lang="es-MX" dirty="0" smtClean="0"/>
              <a:t>Al momento de subir extenso y extenso sin autores, el </a:t>
            </a:r>
            <a:r>
              <a:rPr lang="es-MX" dirty="0" smtClean="0"/>
              <a:t>formato </a:t>
            </a:r>
            <a:r>
              <a:rPr lang="es-MX" dirty="0" smtClean="0"/>
              <a:t>del extenso a subir deberá tener como nombre de archivo la clave de su artículo y solo podrá ser subido en formato WORD. </a:t>
            </a:r>
            <a:r>
              <a:rPr lang="es-MX" dirty="0" err="1" smtClean="0"/>
              <a:t>Ejem</a:t>
            </a:r>
            <a:r>
              <a:rPr lang="es-MX" dirty="0" smtClean="0"/>
              <a:t>: CID001.docx</a:t>
            </a:r>
            <a:endParaRPr lang="es-MX" dirty="0"/>
          </a:p>
        </p:txBody>
      </p:sp>
      <p:sp>
        <p:nvSpPr>
          <p:cNvPr id="6" name="CuadroTexto 5"/>
          <p:cNvSpPr txBox="1"/>
          <p:nvPr/>
        </p:nvSpPr>
        <p:spPr>
          <a:xfrm>
            <a:off x="6583680" y="4206240"/>
            <a:ext cx="2037806" cy="1200329"/>
          </a:xfrm>
          <a:prstGeom prst="rect">
            <a:avLst/>
          </a:prstGeom>
          <a:noFill/>
        </p:spPr>
        <p:txBody>
          <a:bodyPr wrap="square" rtlCol="0">
            <a:spAutoFit/>
          </a:bodyPr>
          <a:lstStyle/>
          <a:p>
            <a:r>
              <a:rPr lang="es-MX" dirty="0" smtClean="0"/>
              <a:t>Una vez seleccionado el archivo, se da clic en subir.</a:t>
            </a:r>
            <a:endParaRPr lang="es-MX" dirty="0"/>
          </a:p>
        </p:txBody>
      </p:sp>
      <p:pic>
        <p:nvPicPr>
          <p:cNvPr id="4" name="Imagen 3"/>
          <p:cNvPicPr>
            <a:picLocks noChangeAspect="1"/>
          </p:cNvPicPr>
          <p:nvPr/>
        </p:nvPicPr>
        <p:blipFill rotWithShape="1">
          <a:blip r:embed="rId2"/>
          <a:srcRect l="14159" t="9375" r="4118" b="11874"/>
          <a:stretch/>
        </p:blipFill>
        <p:spPr>
          <a:xfrm>
            <a:off x="78376" y="6250"/>
            <a:ext cx="9065624" cy="4199990"/>
          </a:xfrm>
          <a:prstGeom prst="rect">
            <a:avLst/>
          </a:prstGeom>
        </p:spPr>
      </p:pic>
      <p:cxnSp>
        <p:nvCxnSpPr>
          <p:cNvPr id="8" name="Conector recto de flecha 7"/>
          <p:cNvCxnSpPr/>
          <p:nvPr/>
        </p:nvCxnSpPr>
        <p:spPr>
          <a:xfrm flipH="1" flipV="1">
            <a:off x="5516971" y="2377440"/>
            <a:ext cx="962206" cy="168510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5" name="Conector recto de flecha 4"/>
          <p:cNvCxnSpPr/>
          <p:nvPr/>
        </p:nvCxnSpPr>
        <p:spPr>
          <a:xfrm flipV="1">
            <a:off x="2625634" y="2259876"/>
            <a:ext cx="117566" cy="194636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1" name="CuadroTexto 10"/>
          <p:cNvSpPr txBox="1"/>
          <p:nvPr/>
        </p:nvSpPr>
        <p:spPr>
          <a:xfrm>
            <a:off x="3750151" y="4401207"/>
            <a:ext cx="2244588" cy="1754326"/>
          </a:xfrm>
          <a:prstGeom prst="rect">
            <a:avLst/>
          </a:prstGeom>
          <a:noFill/>
        </p:spPr>
        <p:txBody>
          <a:bodyPr wrap="square" rtlCol="0">
            <a:spAutoFit/>
          </a:bodyPr>
          <a:lstStyle/>
          <a:p>
            <a:r>
              <a:rPr lang="es-MX" dirty="0" smtClean="0"/>
              <a:t>Si no se selecciona la opción de someter a revisión, el usuario podrá subir las veces necesarias extenso y extenso sin autores.</a:t>
            </a:r>
            <a:endParaRPr lang="es-MX" dirty="0"/>
          </a:p>
        </p:txBody>
      </p:sp>
      <p:cxnSp>
        <p:nvCxnSpPr>
          <p:cNvPr id="14" name="Conector recto de flecha 13"/>
          <p:cNvCxnSpPr/>
          <p:nvPr/>
        </p:nvCxnSpPr>
        <p:spPr>
          <a:xfrm flipH="1" flipV="1">
            <a:off x="3115628" y="1946366"/>
            <a:ext cx="1625770" cy="245484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736264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91442" y="0"/>
            <a:ext cx="9235441" cy="923330"/>
          </a:xfrm>
          <a:prstGeom prst="rect">
            <a:avLst/>
          </a:prstGeom>
        </p:spPr>
        <p:txBody>
          <a:bodyPr wrap="square">
            <a:spAutoFit/>
          </a:bodyPr>
          <a:lstStyle/>
          <a:p>
            <a:pPr algn="just"/>
            <a:r>
              <a:rPr lang="es-MX" dirty="0">
                <a:ea typeface="Calibri" panose="020F0502020204030204" pitchFamily="34" charset="0"/>
                <a:cs typeface="Arial" panose="020B0604020202020204" pitchFamily="34" charset="0"/>
              </a:rPr>
              <a:t>Después de haber subido el extenso del artículo, el contacto estará en espera del dictamen final. Cuando </a:t>
            </a:r>
            <a:r>
              <a:rPr lang="es-MX" dirty="0" smtClean="0">
                <a:ea typeface="Calibri" panose="020F0502020204030204" pitchFamily="34" charset="0"/>
                <a:cs typeface="Arial" panose="020B0604020202020204" pitchFamily="34" charset="0"/>
              </a:rPr>
              <a:t>el </a:t>
            </a:r>
            <a:r>
              <a:rPr lang="es-MX" dirty="0">
                <a:ea typeface="Calibri" panose="020F0502020204030204" pitchFamily="34" charset="0"/>
                <a:cs typeface="Arial" panose="020B0604020202020204" pitchFamily="34" charset="0"/>
              </a:rPr>
              <a:t>dictamen sea generado por el administrador, el contacto visualizará su resultado, en caso que el resultado del dictamen sea aceptado, procederá a generar la ficha de pago. </a:t>
            </a:r>
            <a:endParaRPr lang="es-MX" dirty="0"/>
          </a:p>
        </p:txBody>
      </p:sp>
      <p:sp>
        <p:nvSpPr>
          <p:cNvPr id="5" name="CuadroTexto 4"/>
          <p:cNvSpPr txBox="1"/>
          <p:nvPr/>
        </p:nvSpPr>
        <p:spPr>
          <a:xfrm>
            <a:off x="253226" y="4927421"/>
            <a:ext cx="3959545" cy="1477328"/>
          </a:xfrm>
          <a:prstGeom prst="rect">
            <a:avLst/>
          </a:prstGeom>
          <a:noFill/>
        </p:spPr>
        <p:txBody>
          <a:bodyPr wrap="square" rtlCol="0">
            <a:spAutoFit/>
          </a:bodyPr>
          <a:lstStyle/>
          <a:p>
            <a:pPr algn="just"/>
            <a:r>
              <a:rPr lang="es-MX" dirty="0" smtClean="0"/>
              <a:t>Si el comité aun no revisa el extenso, el status dirá en revisión, si muestra la palabra dictamen, entonces su extenso ya fue evaluado y podrá descargar el dictamen.</a:t>
            </a:r>
            <a:endParaRPr lang="es-MX" dirty="0"/>
          </a:p>
        </p:txBody>
      </p:sp>
      <p:sp>
        <p:nvSpPr>
          <p:cNvPr id="6" name="CuadroTexto 5"/>
          <p:cNvSpPr txBox="1"/>
          <p:nvPr/>
        </p:nvSpPr>
        <p:spPr>
          <a:xfrm>
            <a:off x="7680960" y="5065921"/>
            <a:ext cx="1254035" cy="923330"/>
          </a:xfrm>
          <a:prstGeom prst="rect">
            <a:avLst/>
          </a:prstGeom>
          <a:noFill/>
        </p:spPr>
        <p:txBody>
          <a:bodyPr wrap="square" rtlCol="0">
            <a:spAutoFit/>
          </a:bodyPr>
          <a:lstStyle/>
          <a:p>
            <a:pPr algn="ctr"/>
            <a:r>
              <a:rPr lang="es-MX" dirty="0" smtClean="0"/>
              <a:t>Descarga el dictamen generado</a:t>
            </a:r>
            <a:endParaRPr lang="es-MX" dirty="0"/>
          </a:p>
        </p:txBody>
      </p:sp>
      <p:sp>
        <p:nvSpPr>
          <p:cNvPr id="7" name="CuadroTexto 6"/>
          <p:cNvSpPr txBox="1"/>
          <p:nvPr/>
        </p:nvSpPr>
        <p:spPr>
          <a:xfrm>
            <a:off x="6335485" y="5065921"/>
            <a:ext cx="1254035" cy="646331"/>
          </a:xfrm>
          <a:prstGeom prst="rect">
            <a:avLst/>
          </a:prstGeom>
          <a:noFill/>
        </p:spPr>
        <p:txBody>
          <a:bodyPr wrap="square" rtlCol="0">
            <a:spAutoFit/>
          </a:bodyPr>
          <a:lstStyle/>
          <a:p>
            <a:pPr algn="ctr"/>
            <a:r>
              <a:rPr lang="es-MX" dirty="0" smtClean="0"/>
              <a:t>Descarga el extenso</a:t>
            </a:r>
            <a:endParaRPr lang="es-MX" dirty="0"/>
          </a:p>
        </p:txBody>
      </p:sp>
      <p:sp>
        <p:nvSpPr>
          <p:cNvPr id="8" name="CuadroTexto 7"/>
          <p:cNvSpPr txBox="1"/>
          <p:nvPr/>
        </p:nvSpPr>
        <p:spPr>
          <a:xfrm>
            <a:off x="4692830" y="5065921"/>
            <a:ext cx="1254035" cy="923330"/>
          </a:xfrm>
          <a:prstGeom prst="rect">
            <a:avLst/>
          </a:prstGeom>
          <a:noFill/>
        </p:spPr>
        <p:txBody>
          <a:bodyPr wrap="square" rtlCol="0">
            <a:spAutoFit/>
          </a:bodyPr>
          <a:lstStyle/>
          <a:p>
            <a:pPr algn="ctr"/>
            <a:r>
              <a:rPr lang="es-MX" dirty="0" smtClean="0"/>
              <a:t>Se genera la ficha de pago.</a:t>
            </a:r>
            <a:endParaRPr lang="es-MX" dirty="0"/>
          </a:p>
        </p:txBody>
      </p:sp>
      <p:pic>
        <p:nvPicPr>
          <p:cNvPr id="13" name="Imagen 12"/>
          <p:cNvPicPr>
            <a:picLocks noChangeAspect="1"/>
          </p:cNvPicPr>
          <p:nvPr/>
        </p:nvPicPr>
        <p:blipFill rotWithShape="1">
          <a:blip r:embed="rId2"/>
          <a:srcRect l="1207" t="10267" r="1105" b="29197"/>
          <a:stretch/>
        </p:blipFill>
        <p:spPr>
          <a:xfrm>
            <a:off x="0" y="970995"/>
            <a:ext cx="9000309" cy="3448595"/>
          </a:xfrm>
          <a:prstGeom prst="rect">
            <a:avLst/>
          </a:prstGeom>
        </p:spPr>
      </p:pic>
      <p:cxnSp>
        <p:nvCxnSpPr>
          <p:cNvPr id="10" name="Conector recto de flecha 9"/>
          <p:cNvCxnSpPr>
            <a:stCxn id="5" idx="0"/>
          </p:cNvCxnSpPr>
          <p:nvPr/>
        </p:nvCxnSpPr>
        <p:spPr>
          <a:xfrm flipV="1">
            <a:off x="2232999" y="3370217"/>
            <a:ext cx="3475469" cy="15572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Conector recto de flecha 15"/>
          <p:cNvCxnSpPr>
            <a:stCxn id="8" idx="0"/>
          </p:cNvCxnSpPr>
          <p:nvPr/>
        </p:nvCxnSpPr>
        <p:spPr>
          <a:xfrm flipV="1">
            <a:off x="5319848" y="3735977"/>
            <a:ext cx="1577341" cy="132994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Conector recto de flecha 13"/>
          <p:cNvCxnSpPr>
            <a:stCxn id="7" idx="0"/>
          </p:cNvCxnSpPr>
          <p:nvPr/>
        </p:nvCxnSpPr>
        <p:spPr>
          <a:xfrm flipV="1">
            <a:off x="6962503" y="3566160"/>
            <a:ext cx="725738" cy="149976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2" name="Conector recto de flecha 11"/>
          <p:cNvCxnSpPr>
            <a:stCxn id="6" idx="0"/>
          </p:cNvCxnSpPr>
          <p:nvPr/>
        </p:nvCxnSpPr>
        <p:spPr>
          <a:xfrm flipV="1">
            <a:off x="8307978" y="3918857"/>
            <a:ext cx="195942" cy="114706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778630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0387" y="62024"/>
            <a:ext cx="4572000" cy="1754326"/>
          </a:xfrm>
          <a:prstGeom prst="rect">
            <a:avLst/>
          </a:prstGeom>
        </p:spPr>
        <p:txBody>
          <a:bodyPr>
            <a:spAutoFit/>
          </a:bodyPr>
          <a:lstStyle/>
          <a:p>
            <a:pPr algn="just"/>
            <a:r>
              <a:rPr lang="es-MX" dirty="0">
                <a:ea typeface="Calibri" panose="020F0502020204030204" pitchFamily="34" charset="0"/>
                <a:cs typeface="Arial" panose="020B0604020202020204" pitchFamily="34" charset="0"/>
              </a:rPr>
              <a:t>En este apartado deberá capturar los datos para generar la </a:t>
            </a:r>
            <a:r>
              <a:rPr lang="es-MX" dirty="0" smtClean="0">
                <a:ea typeface="Calibri" panose="020F0502020204030204" pitchFamily="34" charset="0"/>
                <a:cs typeface="Arial" panose="020B0604020202020204" pitchFamily="34" charset="0"/>
              </a:rPr>
              <a:t>ficha de pago, </a:t>
            </a:r>
            <a:r>
              <a:rPr lang="es-MX" dirty="0">
                <a:ea typeface="Calibri" panose="020F0502020204030204" pitchFamily="34" charset="0"/>
                <a:cs typeface="Arial" panose="020B0604020202020204" pitchFamily="34" charset="0"/>
              </a:rPr>
              <a:t>así como también el tipo de pago que debe realizar, y el o los artículos que pertenecerán a esta ficha de pago. El proceso de generación de ficha de pago se muestra en la siguiente figura.</a:t>
            </a:r>
            <a:endParaRPr lang="es-MX" dirty="0"/>
          </a:p>
        </p:txBody>
      </p:sp>
      <p:pic>
        <p:nvPicPr>
          <p:cNvPr id="3" name="Imagen 2"/>
          <p:cNvPicPr/>
          <p:nvPr/>
        </p:nvPicPr>
        <p:blipFill rotWithShape="1">
          <a:blip r:embed="rId2">
            <a:extLst>
              <a:ext uri="{28A0092B-C50C-407E-A947-70E740481C1C}">
                <a14:useLocalDpi xmlns:a14="http://schemas.microsoft.com/office/drawing/2010/main" val="0"/>
              </a:ext>
            </a:extLst>
          </a:blip>
          <a:srcRect t="11286"/>
          <a:stretch/>
        </p:blipFill>
        <p:spPr>
          <a:xfrm>
            <a:off x="48192" y="1792058"/>
            <a:ext cx="6629400" cy="4114800"/>
          </a:xfrm>
          <a:prstGeom prst="rect">
            <a:avLst/>
          </a:prstGeom>
        </p:spPr>
      </p:pic>
      <p:sp>
        <p:nvSpPr>
          <p:cNvPr id="4" name="CuadroTexto 3"/>
          <p:cNvSpPr txBox="1"/>
          <p:nvPr/>
        </p:nvSpPr>
        <p:spPr>
          <a:xfrm>
            <a:off x="5316583" y="339633"/>
            <a:ext cx="2625634" cy="646331"/>
          </a:xfrm>
          <a:prstGeom prst="rect">
            <a:avLst/>
          </a:prstGeom>
          <a:noFill/>
        </p:spPr>
        <p:txBody>
          <a:bodyPr wrap="square" rtlCol="0">
            <a:spAutoFit/>
          </a:bodyPr>
          <a:lstStyle/>
          <a:p>
            <a:pPr algn="ctr"/>
            <a:r>
              <a:rPr lang="es-MX" dirty="0" smtClean="0"/>
              <a:t>Datos necesarios para su posterior facturación.</a:t>
            </a:r>
            <a:endParaRPr lang="es-MX" dirty="0"/>
          </a:p>
        </p:txBody>
      </p:sp>
      <p:cxnSp>
        <p:nvCxnSpPr>
          <p:cNvPr id="6" name="Conector recto de flecha 5"/>
          <p:cNvCxnSpPr>
            <a:stCxn id="4" idx="2"/>
          </p:cNvCxnSpPr>
          <p:nvPr/>
        </p:nvCxnSpPr>
        <p:spPr>
          <a:xfrm flipH="1">
            <a:off x="2050869" y="985964"/>
            <a:ext cx="4578531" cy="1482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a:stCxn id="4" idx="2"/>
          </p:cNvCxnSpPr>
          <p:nvPr/>
        </p:nvCxnSpPr>
        <p:spPr>
          <a:xfrm flipH="1">
            <a:off x="5316583" y="985964"/>
            <a:ext cx="1312817" cy="1561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CuadroTexto 8"/>
          <p:cNvSpPr txBox="1"/>
          <p:nvPr/>
        </p:nvSpPr>
        <p:spPr>
          <a:xfrm>
            <a:off x="6912723" y="1114645"/>
            <a:ext cx="1841863" cy="1477328"/>
          </a:xfrm>
          <a:prstGeom prst="rect">
            <a:avLst/>
          </a:prstGeom>
          <a:noFill/>
        </p:spPr>
        <p:txBody>
          <a:bodyPr wrap="square" rtlCol="0">
            <a:spAutoFit/>
          </a:bodyPr>
          <a:lstStyle/>
          <a:p>
            <a:pPr algn="ctr"/>
            <a:r>
              <a:rPr lang="es-MX" dirty="0" smtClean="0"/>
              <a:t>Selecciona el tipo de pago a realizar, por ejemplo si es  estudiante, etc.</a:t>
            </a:r>
            <a:endParaRPr lang="es-MX" dirty="0"/>
          </a:p>
        </p:txBody>
      </p:sp>
      <p:cxnSp>
        <p:nvCxnSpPr>
          <p:cNvPr id="13" name="Conector recto de flecha 12"/>
          <p:cNvCxnSpPr>
            <a:stCxn id="9" idx="1"/>
          </p:cNvCxnSpPr>
          <p:nvPr/>
        </p:nvCxnSpPr>
        <p:spPr>
          <a:xfrm flipH="1">
            <a:off x="2335779" y="1853309"/>
            <a:ext cx="4576944" cy="163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CuadroTexto 13"/>
          <p:cNvSpPr txBox="1"/>
          <p:nvPr/>
        </p:nvSpPr>
        <p:spPr>
          <a:xfrm>
            <a:off x="6746171" y="2665852"/>
            <a:ext cx="2266406" cy="2585323"/>
          </a:xfrm>
          <a:prstGeom prst="rect">
            <a:avLst/>
          </a:prstGeom>
          <a:noFill/>
        </p:spPr>
        <p:txBody>
          <a:bodyPr wrap="square" rtlCol="0">
            <a:spAutoFit/>
          </a:bodyPr>
          <a:lstStyle/>
          <a:p>
            <a:pPr algn="just"/>
            <a:r>
              <a:rPr lang="es-MX" dirty="0" smtClean="0"/>
              <a:t>Se agregan los artículos a pagar. Cabe mencionar que puede crear una ficha de pago por artículo o una ficha para todos sus </a:t>
            </a:r>
            <a:r>
              <a:rPr lang="es-MX" dirty="0" smtClean="0"/>
              <a:t>artículos, además de poder solicitar factura.</a:t>
            </a:r>
            <a:endParaRPr lang="es-MX" dirty="0"/>
          </a:p>
        </p:txBody>
      </p:sp>
      <p:cxnSp>
        <p:nvCxnSpPr>
          <p:cNvPr id="16" name="Conector recto de flecha 15"/>
          <p:cNvCxnSpPr/>
          <p:nvPr/>
        </p:nvCxnSpPr>
        <p:spPr>
          <a:xfrm flipH="1">
            <a:off x="2325189" y="4075611"/>
            <a:ext cx="4304211" cy="15675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CuadroTexto 16"/>
          <p:cNvSpPr txBox="1"/>
          <p:nvPr/>
        </p:nvSpPr>
        <p:spPr>
          <a:xfrm>
            <a:off x="6896394" y="5445193"/>
            <a:ext cx="2091645" cy="923330"/>
          </a:xfrm>
          <a:prstGeom prst="rect">
            <a:avLst/>
          </a:prstGeom>
          <a:noFill/>
        </p:spPr>
        <p:txBody>
          <a:bodyPr wrap="square" rtlCol="0">
            <a:spAutoFit/>
          </a:bodyPr>
          <a:lstStyle/>
          <a:p>
            <a:r>
              <a:rPr lang="es-MX" dirty="0" smtClean="0"/>
              <a:t>Una vez terminado se genera el recibo de pago.</a:t>
            </a:r>
            <a:endParaRPr lang="es-MX" dirty="0"/>
          </a:p>
        </p:txBody>
      </p:sp>
      <p:cxnSp>
        <p:nvCxnSpPr>
          <p:cNvPr id="19" name="Conector recto de flecha 18"/>
          <p:cNvCxnSpPr>
            <a:stCxn id="17" idx="1"/>
          </p:cNvCxnSpPr>
          <p:nvPr/>
        </p:nvCxnSpPr>
        <p:spPr>
          <a:xfrm flipH="1" flipV="1">
            <a:off x="5160621" y="5771336"/>
            <a:ext cx="1735773" cy="135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Imagen 4"/>
          <p:cNvPicPr>
            <a:picLocks noChangeAspect="1"/>
          </p:cNvPicPr>
          <p:nvPr/>
        </p:nvPicPr>
        <p:blipFill rotWithShape="1">
          <a:blip r:embed="rId3"/>
          <a:srcRect l="17672" t="74554" r="71786" b="23481"/>
          <a:stretch/>
        </p:blipFill>
        <p:spPr>
          <a:xfrm>
            <a:off x="300445" y="4558937"/>
            <a:ext cx="1371600" cy="143692"/>
          </a:xfrm>
          <a:prstGeom prst="rect">
            <a:avLst/>
          </a:prstGeom>
        </p:spPr>
      </p:pic>
      <p:cxnSp>
        <p:nvCxnSpPr>
          <p:cNvPr id="15" name="Conector recto de flecha 14"/>
          <p:cNvCxnSpPr/>
          <p:nvPr/>
        </p:nvCxnSpPr>
        <p:spPr>
          <a:xfrm flipH="1">
            <a:off x="1668781" y="4075611"/>
            <a:ext cx="4960619" cy="55609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257835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767418"/>
            <a:ext cx="4572000" cy="923330"/>
          </a:xfrm>
          <a:prstGeom prst="rect">
            <a:avLst/>
          </a:prstGeom>
        </p:spPr>
        <p:txBody>
          <a:bodyPr>
            <a:spAutoFit/>
          </a:bodyPr>
          <a:lstStyle/>
          <a:p>
            <a:pPr algn="just"/>
            <a:r>
              <a:rPr lang="es-MX" dirty="0">
                <a:ea typeface="Calibri" panose="020F0502020204030204" pitchFamily="34" charset="0"/>
                <a:cs typeface="Arial" panose="020B0604020202020204" pitchFamily="34" charset="0"/>
              </a:rPr>
              <a:t>Cuando se termine de capturar los datos, el sistema genera la ficha de pago con los datos bancarios para poder pagar.  </a:t>
            </a:r>
            <a:endParaRPr lang="es-MX" dirty="0"/>
          </a:p>
        </p:txBody>
      </p:sp>
      <p:pic>
        <p:nvPicPr>
          <p:cNvPr id="4" name="Imagen 3"/>
          <p:cNvPicPr/>
          <p:nvPr/>
        </p:nvPicPr>
        <p:blipFill>
          <a:blip r:embed="rId2">
            <a:extLst>
              <a:ext uri="{28A0092B-C50C-407E-A947-70E740481C1C}">
                <a14:useLocalDpi xmlns:a14="http://schemas.microsoft.com/office/drawing/2010/main" val="0"/>
              </a:ext>
            </a:extLst>
          </a:blip>
          <a:stretch>
            <a:fillRect/>
          </a:stretch>
        </p:blipFill>
        <p:spPr>
          <a:xfrm>
            <a:off x="326571" y="2017528"/>
            <a:ext cx="5551714" cy="3952198"/>
          </a:xfrm>
          <a:prstGeom prst="rect">
            <a:avLst/>
          </a:prstGeom>
        </p:spPr>
      </p:pic>
      <p:sp>
        <p:nvSpPr>
          <p:cNvPr id="6" name="CuadroTexto 5"/>
          <p:cNvSpPr txBox="1"/>
          <p:nvPr/>
        </p:nvSpPr>
        <p:spPr>
          <a:xfrm>
            <a:off x="6322423" y="1567543"/>
            <a:ext cx="1621149" cy="369332"/>
          </a:xfrm>
          <a:prstGeom prst="rect">
            <a:avLst/>
          </a:prstGeom>
          <a:noFill/>
        </p:spPr>
        <p:txBody>
          <a:bodyPr wrap="none" rtlCol="0">
            <a:spAutoFit/>
          </a:bodyPr>
          <a:lstStyle/>
          <a:p>
            <a:r>
              <a:rPr lang="es-MX" dirty="0" smtClean="0"/>
              <a:t>Imprime recibo</a:t>
            </a:r>
            <a:endParaRPr lang="es-MX" dirty="0"/>
          </a:p>
        </p:txBody>
      </p:sp>
      <p:cxnSp>
        <p:nvCxnSpPr>
          <p:cNvPr id="8" name="Conector recto de flecha 7"/>
          <p:cNvCxnSpPr>
            <a:stCxn id="6" idx="2"/>
          </p:cNvCxnSpPr>
          <p:nvPr/>
        </p:nvCxnSpPr>
        <p:spPr>
          <a:xfrm flipH="1">
            <a:off x="2991394" y="1936875"/>
            <a:ext cx="4141604" cy="362790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0" name="Rectángulo 9"/>
          <p:cNvSpPr/>
          <p:nvPr/>
        </p:nvSpPr>
        <p:spPr>
          <a:xfrm>
            <a:off x="6087292" y="3135763"/>
            <a:ext cx="2690949" cy="2031325"/>
          </a:xfrm>
          <a:prstGeom prst="rect">
            <a:avLst/>
          </a:prstGeom>
        </p:spPr>
        <p:txBody>
          <a:bodyPr wrap="square">
            <a:spAutoFit/>
          </a:bodyPr>
          <a:lstStyle/>
          <a:p>
            <a:pPr algn="just"/>
            <a:r>
              <a:rPr lang="es-MX" dirty="0">
                <a:ea typeface="Calibri" panose="020F0502020204030204" pitchFamily="34" charset="0"/>
                <a:cs typeface="Arial" panose="020B0604020202020204" pitchFamily="34" charset="0"/>
              </a:rPr>
              <a:t>Una vez que el contacto pague deberá subir su comprobante de pago para que </a:t>
            </a:r>
            <a:r>
              <a:rPr lang="es-MX" dirty="0" smtClean="0">
                <a:ea typeface="Calibri" panose="020F0502020204030204" pitchFamily="34" charset="0"/>
                <a:cs typeface="Arial" panose="020B0604020202020204" pitchFamily="34" charset="0"/>
              </a:rPr>
              <a:t>el departamento de financiero pueda </a:t>
            </a:r>
            <a:r>
              <a:rPr lang="es-MX" dirty="0">
                <a:ea typeface="Calibri" panose="020F0502020204030204" pitchFamily="34" charset="0"/>
                <a:cs typeface="Arial" panose="020B0604020202020204" pitchFamily="34" charset="0"/>
              </a:rPr>
              <a:t>validarlo y generar la </a:t>
            </a:r>
            <a:r>
              <a:rPr lang="es-MX" dirty="0" smtClean="0">
                <a:ea typeface="Calibri" panose="020F0502020204030204" pitchFamily="34" charset="0"/>
                <a:cs typeface="Arial" panose="020B0604020202020204" pitchFamily="34" charset="0"/>
              </a:rPr>
              <a:t>factura.</a:t>
            </a:r>
            <a:endParaRPr lang="es-MX" dirty="0"/>
          </a:p>
        </p:txBody>
      </p:sp>
      <p:cxnSp>
        <p:nvCxnSpPr>
          <p:cNvPr id="12" name="Conector recto de flecha 11"/>
          <p:cNvCxnSpPr>
            <a:stCxn id="10" idx="1"/>
          </p:cNvCxnSpPr>
          <p:nvPr/>
        </p:nvCxnSpPr>
        <p:spPr>
          <a:xfrm flipH="1">
            <a:off x="4441372" y="4151426"/>
            <a:ext cx="1645920" cy="1659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1316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6505303" y="3024176"/>
            <a:ext cx="2638697" cy="923330"/>
          </a:xfrm>
          <a:prstGeom prst="rect">
            <a:avLst/>
          </a:prstGeom>
          <a:noFill/>
        </p:spPr>
        <p:txBody>
          <a:bodyPr wrap="square" rtlCol="0">
            <a:spAutoFit/>
          </a:bodyPr>
          <a:lstStyle/>
          <a:p>
            <a:pPr algn="just"/>
            <a:r>
              <a:rPr lang="es-MX" dirty="0" smtClean="0"/>
              <a:t>Seleccionar documentos del menú principal para poder subir archivos.</a:t>
            </a:r>
            <a:endParaRPr lang="es-MX" dirty="0"/>
          </a:p>
        </p:txBody>
      </p:sp>
      <p:sp>
        <p:nvSpPr>
          <p:cNvPr id="7" name="CuadroTexto 6"/>
          <p:cNvSpPr txBox="1"/>
          <p:nvPr/>
        </p:nvSpPr>
        <p:spPr>
          <a:xfrm>
            <a:off x="6635931" y="4413280"/>
            <a:ext cx="2377440" cy="646331"/>
          </a:xfrm>
          <a:prstGeom prst="rect">
            <a:avLst/>
          </a:prstGeom>
          <a:noFill/>
        </p:spPr>
        <p:txBody>
          <a:bodyPr wrap="square" rtlCol="0">
            <a:spAutoFit/>
          </a:bodyPr>
          <a:lstStyle/>
          <a:p>
            <a:r>
              <a:rPr lang="es-MX" dirty="0" smtClean="0"/>
              <a:t>Selecciona en tipo de documento a subir.</a:t>
            </a:r>
            <a:endParaRPr lang="es-MX" dirty="0"/>
          </a:p>
        </p:txBody>
      </p:sp>
      <p:sp>
        <p:nvSpPr>
          <p:cNvPr id="10" name="CuadroTexto 9"/>
          <p:cNvSpPr txBox="1"/>
          <p:nvPr/>
        </p:nvSpPr>
        <p:spPr>
          <a:xfrm>
            <a:off x="6291809" y="5625694"/>
            <a:ext cx="2852191" cy="369332"/>
          </a:xfrm>
          <a:prstGeom prst="rect">
            <a:avLst/>
          </a:prstGeom>
          <a:noFill/>
        </p:spPr>
        <p:txBody>
          <a:bodyPr wrap="none" rtlCol="0">
            <a:spAutoFit/>
          </a:bodyPr>
          <a:lstStyle/>
          <a:p>
            <a:r>
              <a:rPr lang="es-MX" dirty="0" smtClean="0"/>
              <a:t>Selecciona el archivo a subir.</a:t>
            </a:r>
            <a:endParaRPr lang="es-MX" dirty="0"/>
          </a:p>
        </p:txBody>
      </p:sp>
      <p:sp>
        <p:nvSpPr>
          <p:cNvPr id="11" name="CuadroTexto 10"/>
          <p:cNvSpPr txBox="1"/>
          <p:nvPr/>
        </p:nvSpPr>
        <p:spPr>
          <a:xfrm>
            <a:off x="0" y="58704"/>
            <a:ext cx="9144000" cy="2585323"/>
          </a:xfrm>
          <a:prstGeom prst="rect">
            <a:avLst/>
          </a:prstGeom>
          <a:noFill/>
        </p:spPr>
        <p:txBody>
          <a:bodyPr wrap="square" rtlCol="0">
            <a:spAutoFit/>
          </a:bodyPr>
          <a:lstStyle/>
          <a:p>
            <a:pPr algn="just"/>
            <a:r>
              <a:rPr lang="es-MX" dirty="0" smtClean="0"/>
              <a:t>En el apartado de documentos, podrá subir dos tipos de </a:t>
            </a:r>
            <a:r>
              <a:rPr lang="es-MX" dirty="0" smtClean="0"/>
              <a:t>archivos, el extenso modificado y la carta de autorización.</a:t>
            </a:r>
          </a:p>
          <a:p>
            <a:pPr algn="just"/>
            <a:endParaRPr lang="es-MX" dirty="0" smtClean="0"/>
          </a:p>
          <a:p>
            <a:pPr algn="just"/>
            <a:r>
              <a:rPr lang="es-MX" dirty="0" smtClean="0"/>
              <a:t>El </a:t>
            </a:r>
            <a:r>
              <a:rPr lang="es-MX" dirty="0"/>
              <a:t>formato del </a:t>
            </a:r>
            <a:r>
              <a:rPr lang="es-MX" dirty="0" smtClean="0"/>
              <a:t>extenso </a:t>
            </a:r>
            <a:r>
              <a:rPr lang="es-MX" dirty="0" smtClean="0"/>
              <a:t>modificado y la carta de autorización </a:t>
            </a:r>
            <a:r>
              <a:rPr lang="es-MX" dirty="0"/>
              <a:t>a subir deberá tener como nombre de archivo la clave de su </a:t>
            </a:r>
            <a:r>
              <a:rPr lang="es-MX" dirty="0" smtClean="0"/>
              <a:t>artículo agregando la letra </a:t>
            </a:r>
            <a:r>
              <a:rPr lang="es-MX" dirty="0" smtClean="0"/>
              <a:t>M en el caso el extenso modificado y para la carta la letra C </a:t>
            </a:r>
            <a:r>
              <a:rPr lang="es-MX" dirty="0" smtClean="0"/>
              <a:t>al final </a:t>
            </a:r>
            <a:r>
              <a:rPr lang="es-MX" dirty="0"/>
              <a:t>y solo podrá ser subido en formato WORD. </a:t>
            </a:r>
            <a:r>
              <a:rPr lang="es-MX" dirty="0" err="1"/>
              <a:t>Ejem</a:t>
            </a:r>
            <a:r>
              <a:rPr lang="es-MX" dirty="0"/>
              <a:t>: </a:t>
            </a:r>
            <a:r>
              <a:rPr lang="es-MX" dirty="0" smtClean="0"/>
              <a:t>CID001M.docx y CID001C.pdf.</a:t>
            </a:r>
          </a:p>
          <a:p>
            <a:pPr algn="just"/>
            <a:endParaRPr lang="es-MX" dirty="0"/>
          </a:p>
          <a:p>
            <a:pPr algn="just"/>
            <a:endParaRPr lang="es-MX" dirty="0"/>
          </a:p>
        </p:txBody>
      </p:sp>
      <p:pic>
        <p:nvPicPr>
          <p:cNvPr id="14" name="Imagen 13"/>
          <p:cNvPicPr>
            <a:picLocks noChangeAspect="1"/>
          </p:cNvPicPr>
          <p:nvPr/>
        </p:nvPicPr>
        <p:blipFill rotWithShape="1">
          <a:blip r:embed="rId2"/>
          <a:srcRect l="16367" t="33661" r="26005" b="9554"/>
          <a:stretch/>
        </p:blipFill>
        <p:spPr>
          <a:xfrm>
            <a:off x="1019" y="2180426"/>
            <a:ext cx="6126481" cy="4219549"/>
          </a:xfrm>
          <a:prstGeom prst="rect">
            <a:avLst/>
          </a:prstGeom>
        </p:spPr>
      </p:pic>
      <p:cxnSp>
        <p:nvCxnSpPr>
          <p:cNvPr id="6" name="Conector recto de flecha 5"/>
          <p:cNvCxnSpPr/>
          <p:nvPr/>
        </p:nvCxnSpPr>
        <p:spPr>
          <a:xfrm flipH="1" flipV="1">
            <a:off x="1214847" y="3148195"/>
            <a:ext cx="5185954" cy="142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p:cNvCxnSpPr/>
          <p:nvPr/>
        </p:nvCxnSpPr>
        <p:spPr>
          <a:xfrm flipH="1" flipV="1">
            <a:off x="5329646" y="3756783"/>
            <a:ext cx="1306285" cy="731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p:cNvCxnSpPr/>
          <p:nvPr/>
        </p:nvCxnSpPr>
        <p:spPr>
          <a:xfrm flipH="1" flipV="1">
            <a:off x="5538651" y="5314418"/>
            <a:ext cx="862150" cy="258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7171309"/>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278</TotalTime>
  <Words>1037</Words>
  <Application>Microsoft Office PowerPoint</Application>
  <PresentationFormat>Presentación en pantalla (4:3)</PresentationFormat>
  <Paragraphs>56</Paragraphs>
  <Slides>16</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16</vt:i4>
      </vt:variant>
    </vt:vector>
  </HeadingPairs>
  <TitlesOfParts>
    <vt:vector size="23" baseType="lpstr">
      <vt:lpstr>Arial</vt:lpstr>
      <vt:lpstr>Calibri</vt:lpstr>
      <vt:lpstr>Calibri Light</vt:lpstr>
      <vt:lpstr>Segoe UI</vt:lpstr>
      <vt:lpstr>Soberana Sans</vt:lpstr>
      <vt:lpstr>Times New Roman</vt:lpstr>
      <vt:lpstr>Retrospección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Windows User</dc:creator>
  <cp:lastModifiedBy>miguel angel castillo ortiz</cp:lastModifiedBy>
  <cp:revision>33</cp:revision>
  <dcterms:created xsi:type="dcterms:W3CDTF">2018-10-01T15:32:28Z</dcterms:created>
  <dcterms:modified xsi:type="dcterms:W3CDTF">2019-10-30T19:28:36Z</dcterms:modified>
</cp:coreProperties>
</file>